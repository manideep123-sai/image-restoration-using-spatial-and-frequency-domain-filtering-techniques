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Fragment Mono" panose="020B0604020202020204" charset="0"/>
      <p:regular r:id="rId11"/>
    </p:embeddedFont>
    <p:embeddedFont>
      <p:font typeface="Inter Tight" panose="020B0604020202020204" charset="0"/>
      <p:regular r:id="rId12"/>
    </p:embeddedFont>
    <p:embeddedFont>
      <p:font typeface="Inter Tight Bold" panose="020B0604020202020204" charset="0"/>
      <p:regular r:id="rId13"/>
    </p:embeddedFont>
    <p:embeddedFont>
      <p:font typeface="Inter Tight Semi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1483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an interactive comparison of established image-restoration filters. The focus is how spatial and frequency-domain methods respond to different kinds of image damage.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input rather than the filter. Noise and blur create different restoration problems, so the project compares several established methods under controlled conditions instead of presenting one universal solution.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common pipeline. The spatial and frequency-domain distinction is where the processing differs, while the input damage, selected method, output comparison, and quality review remain consistent.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two groups. The four spatial filters operate on local neighbourhoods. The four frequency methods work through the transformed image representation, with inverse and Wiener aimed at deblurring and low-pass filters aimed at smoothing.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repeatability. The offline file lets a user change the image damage, filter choice, and slider settings while keeping the three-way comparison visible. The presets make common demonstrations easy to reproduce.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chart to make three comparisons. Adaptive median reaches 29.96 dB under salt-and-pepper noise. Gaussian low-pass reaches 25.43 dB under Gaussian noise. Under blur plus Gaussian noise, Wiener reaches 22.35 dB while inverse filtering falls to 8.69 dB.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mechanism rather than only reading the result. Inverse filtering assumes the blur response can be safely undone, but weak frequency responses make noise dominate. Wiener filtering introduces K to balance recovery against noise suppression, which explains the much stronger reported result.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selection rule: match the filter to the damage. Then acknowledge the scope of the tests and the main next steps, before inviting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AF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2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AFAFA"/>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0383" y="3429000"/>
            <a:ext cx="9651759" cy="2314476"/>
          </a:xfrm>
          <a:prstGeom prst="roundRect">
            <a:avLst>
              <a:gd name="adj" fmla="val 1399"/>
            </a:avLst>
          </a:prstGeom>
          <a:solidFill>
            <a:srgbClr val="FFFFFF"/>
          </a:solidFill>
          <a:ln/>
        </p:spPr>
      </p:sp>
      <p:sp>
        <p:nvSpPr>
          <p:cNvPr id="3" name="Text 1"/>
          <p:cNvSpPr/>
          <p:nvPr/>
        </p:nvSpPr>
        <p:spPr>
          <a:xfrm>
            <a:off x="1015975" y="3741420"/>
            <a:ext cx="9550161"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0"/>
              </a:rPr>
              <a:t>BCSE403L · DIGITAL IMAGE PROCESSING</a:t>
            </a:r>
            <a:endParaRPr lang="en-US" sz="1300" dirty="0"/>
          </a:p>
        </p:txBody>
      </p:sp>
      <p:sp>
        <p:nvSpPr>
          <p:cNvPr id="4" name="Text 2"/>
          <p:cNvSpPr/>
          <p:nvPr/>
        </p:nvSpPr>
        <p:spPr>
          <a:xfrm>
            <a:off x="1015975" y="4068774"/>
            <a:ext cx="8940576" cy="990600"/>
          </a:xfrm>
          <a:prstGeom prst="rect">
            <a:avLst/>
          </a:prstGeom>
          <a:noFill/>
          <a:ln/>
        </p:spPr>
        <p:txBody>
          <a:bodyPr wrap="square" lIns="0" tIns="0" rIns="0" bIns="0" rtlCol="0" anchor="t">
            <a:normAutofit lnSpcReduction="10000"/>
          </a:bodyPr>
          <a:lstStyle/>
          <a:p>
            <a:pPr marL="0" indent="0" algn="l">
              <a:lnSpc>
                <a:spcPct val="83000"/>
              </a:lnSpc>
              <a:buNone/>
            </a:pPr>
            <a:r>
              <a:rPr lang="en-US" sz="3900" kern="100" spc="-136" dirty="0">
                <a:solidFill>
                  <a:srgbClr val="000000"/>
                </a:solidFill>
                <a:latin typeface="Inter Tight SemiBold" pitchFamily="34" charset="0"/>
                <a:ea typeface="Inter Tight SemiBold" pitchFamily="34" charset="-122"/>
                <a:cs typeface="Inter Tight SemiBold" pitchFamily="34" charset="0"/>
              </a:rPr>
              <a:t>Image Restoration Using Spatial and Frequency Domain Filtering Techniques</a:t>
            </a:r>
            <a:endParaRPr lang="en-US" sz="3900" dirty="0"/>
          </a:p>
        </p:txBody>
      </p:sp>
      <p:sp>
        <p:nvSpPr>
          <p:cNvPr id="5" name="Text 3"/>
          <p:cNvSpPr/>
          <p:nvPr/>
        </p:nvSpPr>
        <p:spPr>
          <a:xfrm>
            <a:off x="1015975" y="5227558"/>
            <a:ext cx="9550161" cy="214610"/>
          </a:xfrm>
          <a:prstGeom prst="rect">
            <a:avLst/>
          </a:prstGeom>
          <a:noFill/>
          <a:ln/>
        </p:spPr>
        <p:txBody>
          <a:bodyPr wrap="none" lIns="0" tIns="0" rIns="0" bIns="0" rtlCol="0" anchor="t"/>
          <a:lstStyle/>
          <a:p>
            <a:pPr marL="0" indent="0" algn="l">
              <a:lnSpc>
                <a:spcPct val="108000"/>
              </a:lnSpc>
              <a:buNone/>
            </a:pPr>
            <a:r>
              <a:rPr lang="en-US" sz="1300" dirty="0">
                <a:solidFill>
                  <a:srgbClr val="1A1A1A"/>
                </a:solidFill>
                <a:latin typeface="Fragment Mono" pitchFamily="34" charset="0"/>
                <a:ea typeface="Fragment Mono" pitchFamily="34" charset="-122"/>
                <a:cs typeface="Fragment Mono" pitchFamily="34" charset="0"/>
              </a:rPr>
              <a:t>MANIDEEP SAI CHINTHALA · 23BCE0737 · VELLORE INSTITUTE OF TECHNOLOGY, VELLORE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876678" cy="6858000"/>
          </a:xfrm>
          <a:prstGeom prst="rect">
            <a:avLst/>
          </a:prstGeom>
          <a:solidFill>
            <a:srgbClr val="E2DAFB"/>
          </a:solidFill>
          <a:ln/>
        </p:spPr>
      </p:sp>
      <p:pic>
        <p:nvPicPr>
          <p:cNvPr id="3" name="Image 0" descr="preencoded.png"/>
          <p:cNvPicPr>
            <a:picLocks noChangeAspect="1"/>
          </p:cNvPicPr>
          <p:nvPr/>
        </p:nvPicPr>
        <p:blipFill>
          <a:blip r:embed="rId3"/>
          <a:stretch>
            <a:fillRect/>
          </a:stretch>
        </p:blipFill>
        <p:spPr>
          <a:xfrm>
            <a:off x="0" y="0"/>
            <a:ext cx="4876678" cy="6858000"/>
          </a:xfrm>
          <a:prstGeom prst="rect">
            <a:avLst/>
          </a:prstGeom>
        </p:spPr>
      </p:pic>
      <p:pic>
        <p:nvPicPr>
          <p:cNvPr id="4" name="Image 1" descr="preencoded.png"/>
          <p:cNvPicPr>
            <a:picLocks noChangeAspect="1"/>
          </p:cNvPicPr>
          <p:nvPr/>
        </p:nvPicPr>
        <p:blipFill>
          <a:blip r:embed="rId4"/>
          <a:stretch>
            <a:fillRect/>
          </a:stretch>
        </p:blipFill>
        <p:spPr>
          <a:xfrm>
            <a:off x="4876678" y="0"/>
            <a:ext cx="7315017" cy="6858000"/>
          </a:xfrm>
          <a:prstGeom prst="rect">
            <a:avLst/>
          </a:prstGeom>
        </p:spPr>
      </p:pic>
      <p:sp>
        <p:nvSpPr>
          <p:cNvPr id="5" name="Text 1"/>
          <p:cNvSpPr/>
          <p:nvPr/>
        </p:nvSpPr>
        <p:spPr>
          <a:xfrm>
            <a:off x="5410065" y="541020"/>
            <a:ext cx="6781630"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0"/>
              </a:rPr>
              <a:t>01 · PROBLEM SETUP</a:t>
            </a:r>
            <a:endParaRPr lang="en-US" sz="1300" dirty="0"/>
          </a:p>
        </p:txBody>
      </p:sp>
      <p:sp>
        <p:nvSpPr>
          <p:cNvPr id="6" name="Text 2"/>
          <p:cNvSpPr/>
          <p:nvPr/>
        </p:nvSpPr>
        <p:spPr>
          <a:xfrm>
            <a:off x="5410065" y="876718"/>
            <a:ext cx="6172046" cy="1168400"/>
          </a:xfrm>
          <a:prstGeom prst="rect">
            <a:avLst/>
          </a:prstGeom>
          <a:noFill/>
          <a:ln/>
        </p:spPr>
        <p:txBody>
          <a:bodyPr wrap="square" lIns="0" tIns="0" rIns="0" bIns="0" rtlCol="0" anchor="t">
            <a:normAutofit lnSpcReduction="10000"/>
          </a:bodyPr>
          <a:lstStyle/>
          <a:p>
            <a:pPr marL="0" indent="0" algn="l">
              <a:lnSpc>
                <a:spcPct val="83000"/>
              </a:lnSpc>
              <a:buNone/>
            </a:pPr>
            <a:r>
              <a:rPr lang="en-US" sz="4600" kern="100" spc="-161" dirty="0">
                <a:solidFill>
                  <a:srgbClr val="121212"/>
                </a:solidFill>
                <a:latin typeface="Inter Tight SemiBold" pitchFamily="34" charset="0"/>
                <a:ea typeface="Inter Tight SemiBold" pitchFamily="34" charset="-122"/>
                <a:cs typeface="Inter Tight SemiBold" pitchFamily="34" charset="0"/>
              </a:rPr>
              <a:t>Restoration starts with a damaged image</a:t>
            </a:r>
            <a:endParaRPr lang="en-US" sz="4600" dirty="0"/>
          </a:p>
        </p:txBody>
      </p:sp>
      <p:sp>
        <p:nvSpPr>
          <p:cNvPr id="7" name="Shape 3"/>
          <p:cNvSpPr/>
          <p:nvPr/>
        </p:nvSpPr>
        <p:spPr>
          <a:xfrm>
            <a:off x="5410065" y="2253853"/>
            <a:ext cx="2036612" cy="31651"/>
          </a:xfrm>
          <a:prstGeom prst="roundRect">
            <a:avLst>
              <a:gd name="adj" fmla="val 49998"/>
            </a:avLst>
          </a:prstGeom>
          <a:solidFill>
            <a:srgbClr val="1A1A1A"/>
          </a:solidFill>
          <a:ln/>
        </p:spPr>
      </p:sp>
      <p:sp>
        <p:nvSpPr>
          <p:cNvPr id="8" name="Text 4"/>
          <p:cNvSpPr/>
          <p:nvPr/>
        </p:nvSpPr>
        <p:spPr>
          <a:xfrm>
            <a:off x="5410065" y="2545953"/>
            <a:ext cx="6172046"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121212"/>
                </a:solidFill>
                <a:latin typeface="Inter Tight" pitchFamily="34" charset="0"/>
                <a:ea typeface="Inter Tight" pitchFamily="34" charset="-122"/>
                <a:cs typeface="Inter Tight" pitchFamily="34" charset="0"/>
              </a:rPr>
              <a:t>Damage has a pattern</a:t>
            </a:r>
            <a:endParaRPr lang="en-US" sz="2400" dirty="0"/>
          </a:p>
        </p:txBody>
      </p:sp>
      <p:sp>
        <p:nvSpPr>
          <p:cNvPr id="9" name="Text 5"/>
          <p:cNvSpPr/>
          <p:nvPr/>
        </p:nvSpPr>
        <p:spPr>
          <a:xfrm>
            <a:off x="5410065" y="3072765"/>
            <a:ext cx="6172046" cy="248543"/>
          </a:xfrm>
          <a:prstGeom prst="rect">
            <a:avLst/>
          </a:prstGeom>
          <a:noFill/>
          <a:ln/>
        </p:spPr>
        <p:txBody>
          <a:bodyPr wrap="none" lIns="0" tIns="0" rIns="0" bIns="0" rtlCol="0" anchor="t"/>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0"/>
              </a:rPr>
              <a:t>Images may be degraded by noise, blur, or both.</a:t>
            </a:r>
            <a:endParaRPr lang="en-US" sz="1450" dirty="0"/>
          </a:p>
        </p:txBody>
      </p:sp>
      <p:sp>
        <p:nvSpPr>
          <p:cNvPr id="10" name="Text 6"/>
          <p:cNvSpPr/>
          <p:nvPr/>
        </p:nvSpPr>
        <p:spPr>
          <a:xfrm>
            <a:off x="5410065" y="3788271"/>
            <a:ext cx="6172046"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121212"/>
                </a:solidFill>
                <a:latin typeface="Inter Tight" pitchFamily="34" charset="0"/>
                <a:ea typeface="Inter Tight" pitchFamily="34" charset="-122"/>
                <a:cs typeface="Inter Tight" pitchFamily="34" charset="0"/>
              </a:rPr>
              <a:t>Restoration is comparative</a:t>
            </a:r>
            <a:endParaRPr lang="en-US" sz="2400" dirty="0"/>
          </a:p>
        </p:txBody>
      </p:sp>
      <p:sp>
        <p:nvSpPr>
          <p:cNvPr id="11" name="Text 7"/>
          <p:cNvSpPr/>
          <p:nvPr/>
        </p:nvSpPr>
        <p:spPr>
          <a:xfrm>
            <a:off x="5410065" y="4315083"/>
            <a:ext cx="6172046" cy="248543"/>
          </a:xfrm>
          <a:prstGeom prst="rect">
            <a:avLst/>
          </a:prstGeom>
          <a:noFill/>
          <a:ln/>
        </p:spPr>
        <p:txBody>
          <a:bodyPr wrap="none" lIns="0" tIns="0" rIns="0" bIns="0" rtlCol="0" anchor="t"/>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0"/>
              </a:rPr>
              <a:t>Implement eight established filters and compare their performance.</a:t>
            </a:r>
            <a:endParaRPr lang="en-US" sz="1450" dirty="0"/>
          </a:p>
        </p:txBody>
      </p:sp>
      <p:sp>
        <p:nvSpPr>
          <p:cNvPr id="12" name="Text 8"/>
          <p:cNvSpPr/>
          <p:nvPr/>
        </p:nvSpPr>
        <p:spPr>
          <a:xfrm>
            <a:off x="5410065" y="5030589"/>
            <a:ext cx="6172046"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121212"/>
                </a:solidFill>
                <a:latin typeface="Inter Tight" pitchFamily="34" charset="0"/>
                <a:ea typeface="Inter Tight" pitchFamily="34" charset="-122"/>
                <a:cs typeface="Inter Tight" pitchFamily="34" charset="0"/>
              </a:rPr>
              <a:t>The interface stays approachable</a:t>
            </a:r>
            <a:endParaRPr lang="en-US" sz="2400" dirty="0"/>
          </a:p>
        </p:txBody>
      </p:sp>
      <p:sp>
        <p:nvSpPr>
          <p:cNvPr id="13" name="Text 9"/>
          <p:cNvSpPr/>
          <p:nvPr/>
        </p:nvSpPr>
        <p:spPr>
          <a:xfrm>
            <a:off x="5410065" y="5557401"/>
            <a:ext cx="6172046" cy="248543"/>
          </a:xfrm>
          <a:prstGeom prst="rect">
            <a:avLst/>
          </a:prstGeom>
          <a:noFill/>
          <a:ln/>
        </p:spPr>
        <p:txBody>
          <a:bodyPr wrap="none" lIns="0" tIns="0" rIns="0" bIns="0" rtlCol="0" anchor="t"/>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0"/>
              </a:rPr>
              <a:t>Keep the comparison interactive, controlled, and beginner-friendly.</a:t>
            </a:r>
            <a:endParaRPr lang="en-US" sz="1450" dirty="0"/>
          </a:p>
        </p:txBody>
      </p:sp>
      <p:sp>
        <p:nvSpPr>
          <p:cNvPr id="14" name="Shape 10"/>
          <p:cNvSpPr/>
          <p:nvPr/>
        </p:nvSpPr>
        <p:spPr>
          <a:xfrm>
            <a:off x="5410065" y="3539034"/>
            <a:ext cx="6172046" cy="12700"/>
          </a:xfrm>
          <a:prstGeom prst="rect">
            <a:avLst/>
          </a:prstGeom>
          <a:solidFill>
            <a:srgbClr val="1A1A1A"/>
          </a:solidFill>
          <a:ln/>
        </p:spPr>
      </p:sp>
      <p:sp>
        <p:nvSpPr>
          <p:cNvPr id="15" name="Shape 11"/>
          <p:cNvSpPr/>
          <p:nvPr/>
        </p:nvSpPr>
        <p:spPr>
          <a:xfrm>
            <a:off x="5410065" y="4781352"/>
            <a:ext cx="6172046" cy="12700"/>
          </a:xfrm>
          <a:prstGeom prst="rect">
            <a:avLst/>
          </a:prstGeom>
          <a:solidFill>
            <a:srgbClr val="1A1A1A"/>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1030466"/>
            <a:ext cx="11734506"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0"/>
              </a:rPr>
              <a:t>02 · RESTORATION PIPELINE</a:t>
            </a:r>
            <a:endParaRPr lang="en-US" sz="1300" dirty="0"/>
          </a:p>
        </p:txBody>
      </p:sp>
      <p:sp>
        <p:nvSpPr>
          <p:cNvPr id="3" name="Text 1"/>
          <p:cNvSpPr/>
          <p:nvPr/>
        </p:nvSpPr>
        <p:spPr>
          <a:xfrm>
            <a:off x="457189" y="1351506"/>
            <a:ext cx="11277318" cy="431800"/>
          </a:xfrm>
          <a:prstGeom prst="rect">
            <a:avLst/>
          </a:prstGeom>
          <a:noFill/>
          <a:ln/>
        </p:spPr>
        <p:txBody>
          <a:bodyPr wrap="none" lIns="0" tIns="0" rIns="0" bIns="0" rtlCol="0" anchor="t"/>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0"/>
              </a:rPr>
              <a:t>One pipeline, two restoration domains</a:t>
            </a:r>
            <a:endParaRPr lang="en-US" sz="3400" dirty="0"/>
          </a:p>
        </p:txBody>
      </p:sp>
      <p:sp>
        <p:nvSpPr>
          <p:cNvPr id="4" name="Text 2"/>
          <p:cNvSpPr/>
          <p:nvPr/>
        </p:nvSpPr>
        <p:spPr>
          <a:xfrm>
            <a:off x="457189" y="1962408"/>
            <a:ext cx="11734506" cy="291405"/>
          </a:xfrm>
          <a:prstGeom prst="rect">
            <a:avLst/>
          </a:prstGeom>
          <a:noFill/>
          <a:ln/>
        </p:spPr>
        <p:txBody>
          <a:bodyPr wrap="none" lIns="0" tIns="0" rIns="0" bIns="0" rtlCol="0" anchor="t"/>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0"/>
              </a:rPr>
              <a:t>The experiment changes the filter, not the comparison logic.</a:t>
            </a:r>
            <a:endParaRPr lang="en-US" sz="1700" dirty="0"/>
          </a:p>
        </p:txBody>
      </p:sp>
      <p:sp>
        <p:nvSpPr>
          <p:cNvPr id="5" name="Text 3"/>
          <p:cNvSpPr/>
          <p:nvPr/>
        </p:nvSpPr>
        <p:spPr>
          <a:xfrm>
            <a:off x="457189" y="2439392"/>
            <a:ext cx="746206" cy="215900"/>
          </a:xfrm>
          <a:prstGeom prst="rect">
            <a:avLst/>
          </a:prstGeom>
          <a:noFill/>
          <a:ln/>
        </p:spPr>
        <p:txBody>
          <a:bodyPr wrap="none" lIns="0" tIns="0" rIns="0" bIns="0" rtlCol="0" anchor="t"/>
          <a:lstStyle/>
          <a:p>
            <a:pPr marL="0" indent="0" algn="l">
              <a:lnSpc>
                <a:spcPct val="83000"/>
              </a:lnSpc>
              <a:buNone/>
            </a:pPr>
            <a:r>
              <a:rPr lang="en-US" sz="1700" dirty="0">
                <a:solidFill>
                  <a:srgbClr val="1A1A1A"/>
                </a:solidFill>
                <a:latin typeface="Inter Tight SemiBold" pitchFamily="34" charset="0"/>
                <a:ea typeface="Inter Tight SemiBold" pitchFamily="34" charset="-122"/>
                <a:cs typeface="Inter Tight SemiBold" pitchFamily="34" charset="0"/>
              </a:rPr>
              <a:t>1</a:t>
            </a:r>
            <a:endParaRPr lang="en-US" sz="1700" dirty="0"/>
          </a:p>
        </p:txBody>
      </p:sp>
      <p:sp>
        <p:nvSpPr>
          <p:cNvPr id="6" name="Text 4"/>
          <p:cNvSpPr/>
          <p:nvPr/>
        </p:nvSpPr>
        <p:spPr>
          <a:xfrm>
            <a:off x="457189" y="2756098"/>
            <a:ext cx="2476438" cy="301625"/>
          </a:xfrm>
          <a:prstGeom prst="rect">
            <a:avLst/>
          </a:prstGeom>
          <a:noFill/>
          <a:ln/>
        </p:spPr>
        <p:txBody>
          <a:bodyPr wrap="none" lIns="0" tIns="0" rIns="0" bIns="0" rtlCol="0" anchor="t"/>
          <a:lstStyle/>
          <a:p>
            <a:pPr marL="0" indent="0" algn="l">
              <a:lnSpc>
                <a:spcPct val="104000"/>
              </a:lnSpc>
              <a:buNone/>
            </a:pPr>
            <a:r>
              <a:rPr lang="en-US" sz="1900" kern="100" spc="-9" dirty="0">
                <a:solidFill>
                  <a:srgbClr val="121212"/>
                </a:solidFill>
                <a:latin typeface="Inter Tight" pitchFamily="34" charset="0"/>
                <a:ea typeface="Inter Tight" pitchFamily="34" charset="-122"/>
                <a:cs typeface="Inter Tight" pitchFamily="34" charset="0"/>
              </a:rPr>
              <a:t>Original</a:t>
            </a:r>
            <a:endParaRPr lang="en-US" sz="1900" dirty="0"/>
          </a:p>
        </p:txBody>
      </p:sp>
      <p:sp>
        <p:nvSpPr>
          <p:cNvPr id="7" name="Text 5"/>
          <p:cNvSpPr/>
          <p:nvPr/>
        </p:nvSpPr>
        <p:spPr>
          <a:xfrm>
            <a:off x="457189" y="3206313"/>
            <a:ext cx="2476438"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0"/>
              </a:rPr>
              <a:t>Start with an original grayscale image.</a:t>
            </a:r>
            <a:endParaRPr lang="en-US" sz="1700" dirty="0"/>
          </a:p>
        </p:txBody>
      </p:sp>
      <p:sp>
        <p:nvSpPr>
          <p:cNvPr id="8" name="Text 6"/>
          <p:cNvSpPr/>
          <p:nvPr/>
        </p:nvSpPr>
        <p:spPr>
          <a:xfrm>
            <a:off x="3390815" y="2439392"/>
            <a:ext cx="746206" cy="215900"/>
          </a:xfrm>
          <a:prstGeom prst="rect">
            <a:avLst/>
          </a:prstGeom>
          <a:noFill/>
          <a:ln/>
        </p:spPr>
        <p:txBody>
          <a:bodyPr wrap="none" lIns="0" tIns="0" rIns="0" bIns="0" rtlCol="0" anchor="t"/>
          <a:lstStyle/>
          <a:p>
            <a:pPr marL="0" indent="0" algn="l">
              <a:lnSpc>
                <a:spcPct val="83000"/>
              </a:lnSpc>
              <a:buNone/>
            </a:pPr>
            <a:r>
              <a:rPr lang="en-US" sz="1700" dirty="0">
                <a:solidFill>
                  <a:srgbClr val="1A1A1A"/>
                </a:solidFill>
                <a:latin typeface="Inter Tight SemiBold" pitchFamily="34" charset="0"/>
                <a:ea typeface="Inter Tight SemiBold" pitchFamily="34" charset="-122"/>
                <a:cs typeface="Inter Tight SemiBold" pitchFamily="34" charset="0"/>
              </a:rPr>
              <a:t>2</a:t>
            </a:r>
            <a:endParaRPr lang="en-US" sz="1700" dirty="0"/>
          </a:p>
        </p:txBody>
      </p:sp>
      <p:sp>
        <p:nvSpPr>
          <p:cNvPr id="9" name="Text 7"/>
          <p:cNvSpPr/>
          <p:nvPr/>
        </p:nvSpPr>
        <p:spPr>
          <a:xfrm>
            <a:off x="3390815" y="2756098"/>
            <a:ext cx="2476438" cy="301625"/>
          </a:xfrm>
          <a:prstGeom prst="rect">
            <a:avLst/>
          </a:prstGeom>
          <a:noFill/>
          <a:ln/>
        </p:spPr>
        <p:txBody>
          <a:bodyPr wrap="none" lIns="0" tIns="0" rIns="0" bIns="0" rtlCol="0" anchor="t"/>
          <a:lstStyle/>
          <a:p>
            <a:pPr marL="0" indent="0" algn="l">
              <a:lnSpc>
                <a:spcPct val="104000"/>
              </a:lnSpc>
              <a:buNone/>
            </a:pPr>
            <a:r>
              <a:rPr lang="en-US" sz="1900" kern="100" spc="-9" dirty="0">
                <a:solidFill>
                  <a:srgbClr val="121212"/>
                </a:solidFill>
                <a:latin typeface="Inter Tight" pitchFamily="34" charset="0"/>
                <a:ea typeface="Inter Tight" pitchFamily="34" charset="-122"/>
                <a:cs typeface="Inter Tight" pitchFamily="34" charset="0"/>
              </a:rPr>
              <a:t>Damage</a:t>
            </a:r>
            <a:endParaRPr lang="en-US" sz="1900" dirty="0"/>
          </a:p>
        </p:txBody>
      </p:sp>
      <p:sp>
        <p:nvSpPr>
          <p:cNvPr id="10" name="Text 8"/>
          <p:cNvSpPr/>
          <p:nvPr/>
        </p:nvSpPr>
        <p:spPr>
          <a:xfrm>
            <a:off x="3390815" y="3206313"/>
            <a:ext cx="2476438"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0"/>
              </a:rPr>
              <a:t>Add salt-and-pepper noise, Gaussian noise, or blur.</a:t>
            </a:r>
            <a:endParaRPr lang="en-US" sz="1700" dirty="0"/>
          </a:p>
        </p:txBody>
      </p:sp>
      <p:sp>
        <p:nvSpPr>
          <p:cNvPr id="11" name="Text 9"/>
          <p:cNvSpPr/>
          <p:nvPr/>
        </p:nvSpPr>
        <p:spPr>
          <a:xfrm>
            <a:off x="6324442" y="2439392"/>
            <a:ext cx="746206" cy="215900"/>
          </a:xfrm>
          <a:prstGeom prst="rect">
            <a:avLst/>
          </a:prstGeom>
          <a:noFill/>
          <a:ln/>
        </p:spPr>
        <p:txBody>
          <a:bodyPr wrap="none" lIns="0" tIns="0" rIns="0" bIns="0" rtlCol="0" anchor="t"/>
          <a:lstStyle/>
          <a:p>
            <a:pPr marL="0" indent="0" algn="l">
              <a:lnSpc>
                <a:spcPct val="83000"/>
              </a:lnSpc>
              <a:buNone/>
            </a:pPr>
            <a:r>
              <a:rPr lang="en-US" sz="1700" dirty="0">
                <a:solidFill>
                  <a:srgbClr val="1A1A1A"/>
                </a:solidFill>
                <a:latin typeface="Inter Tight SemiBold" pitchFamily="34" charset="0"/>
                <a:ea typeface="Inter Tight SemiBold" pitchFamily="34" charset="-122"/>
                <a:cs typeface="Inter Tight SemiBold" pitchFamily="34" charset="0"/>
              </a:rPr>
              <a:t>3</a:t>
            </a:r>
            <a:endParaRPr lang="en-US" sz="1700" dirty="0"/>
          </a:p>
        </p:txBody>
      </p:sp>
      <p:sp>
        <p:nvSpPr>
          <p:cNvPr id="12" name="Text 10"/>
          <p:cNvSpPr/>
          <p:nvPr/>
        </p:nvSpPr>
        <p:spPr>
          <a:xfrm>
            <a:off x="6324442" y="2756098"/>
            <a:ext cx="2476438" cy="301625"/>
          </a:xfrm>
          <a:prstGeom prst="rect">
            <a:avLst/>
          </a:prstGeom>
          <a:noFill/>
          <a:ln/>
        </p:spPr>
        <p:txBody>
          <a:bodyPr wrap="none" lIns="0" tIns="0" rIns="0" bIns="0" rtlCol="0" anchor="t"/>
          <a:lstStyle/>
          <a:p>
            <a:pPr marL="0" indent="0" algn="l">
              <a:lnSpc>
                <a:spcPct val="104000"/>
              </a:lnSpc>
              <a:buNone/>
            </a:pPr>
            <a:r>
              <a:rPr lang="en-US" sz="1900" kern="100" spc="-9" dirty="0">
                <a:solidFill>
                  <a:srgbClr val="121212"/>
                </a:solidFill>
                <a:latin typeface="Inter Tight" pitchFamily="34" charset="0"/>
                <a:ea typeface="Inter Tight" pitchFamily="34" charset="-122"/>
                <a:cs typeface="Inter Tight" pitchFamily="34" charset="0"/>
              </a:rPr>
              <a:t>Restore</a:t>
            </a:r>
            <a:endParaRPr lang="en-US" sz="1900" dirty="0"/>
          </a:p>
        </p:txBody>
      </p:sp>
      <p:sp>
        <p:nvSpPr>
          <p:cNvPr id="13" name="Text 11"/>
          <p:cNvSpPr/>
          <p:nvPr/>
        </p:nvSpPr>
        <p:spPr>
          <a:xfrm>
            <a:off x="6324442" y="3206313"/>
            <a:ext cx="2476438"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0"/>
              </a:rPr>
              <a:t>Apply a selected restoration filter.</a:t>
            </a:r>
            <a:endParaRPr lang="en-US" sz="1700" dirty="0"/>
          </a:p>
        </p:txBody>
      </p:sp>
      <p:sp>
        <p:nvSpPr>
          <p:cNvPr id="14" name="Text 12"/>
          <p:cNvSpPr/>
          <p:nvPr/>
        </p:nvSpPr>
        <p:spPr>
          <a:xfrm>
            <a:off x="9258068" y="2439392"/>
            <a:ext cx="746007" cy="215900"/>
          </a:xfrm>
          <a:prstGeom prst="rect">
            <a:avLst/>
          </a:prstGeom>
          <a:noFill/>
          <a:ln/>
        </p:spPr>
        <p:txBody>
          <a:bodyPr wrap="none" lIns="0" tIns="0" rIns="0" bIns="0" rtlCol="0" anchor="t"/>
          <a:lstStyle/>
          <a:p>
            <a:pPr marL="0" indent="0" algn="l">
              <a:lnSpc>
                <a:spcPct val="83000"/>
              </a:lnSpc>
              <a:buNone/>
            </a:pPr>
            <a:r>
              <a:rPr lang="en-US" sz="1700" dirty="0">
                <a:solidFill>
                  <a:srgbClr val="1A1A1A"/>
                </a:solidFill>
                <a:latin typeface="Inter Tight SemiBold" pitchFamily="34" charset="0"/>
                <a:ea typeface="Inter Tight SemiBold" pitchFamily="34" charset="-122"/>
                <a:cs typeface="Inter Tight SemiBold" pitchFamily="34" charset="0"/>
              </a:rPr>
              <a:t>4</a:t>
            </a:r>
            <a:endParaRPr lang="en-US" sz="1700" dirty="0"/>
          </a:p>
        </p:txBody>
      </p:sp>
      <p:sp>
        <p:nvSpPr>
          <p:cNvPr id="15" name="Text 13"/>
          <p:cNvSpPr/>
          <p:nvPr/>
        </p:nvSpPr>
        <p:spPr>
          <a:xfrm>
            <a:off x="9258068" y="2756098"/>
            <a:ext cx="2476438" cy="301625"/>
          </a:xfrm>
          <a:prstGeom prst="rect">
            <a:avLst/>
          </a:prstGeom>
          <a:noFill/>
          <a:ln/>
        </p:spPr>
        <p:txBody>
          <a:bodyPr wrap="none" lIns="0" tIns="0" rIns="0" bIns="0" rtlCol="0" anchor="t"/>
          <a:lstStyle/>
          <a:p>
            <a:pPr marL="0" indent="0" algn="l">
              <a:lnSpc>
                <a:spcPct val="104000"/>
              </a:lnSpc>
              <a:buNone/>
            </a:pPr>
            <a:r>
              <a:rPr lang="en-US" sz="1900" kern="100" spc="-9" dirty="0">
                <a:solidFill>
                  <a:srgbClr val="121212"/>
                </a:solidFill>
                <a:latin typeface="Inter Tight" pitchFamily="34" charset="0"/>
                <a:ea typeface="Inter Tight" pitchFamily="34" charset="-122"/>
                <a:cs typeface="Inter Tight" pitchFamily="34" charset="0"/>
              </a:rPr>
              <a:t>Compare</a:t>
            </a:r>
            <a:endParaRPr lang="en-US" sz="1900" dirty="0"/>
          </a:p>
        </p:txBody>
      </p:sp>
      <p:sp>
        <p:nvSpPr>
          <p:cNvPr id="16" name="Text 14"/>
          <p:cNvSpPr/>
          <p:nvPr/>
        </p:nvSpPr>
        <p:spPr>
          <a:xfrm>
            <a:off x="9258068" y="3206313"/>
            <a:ext cx="2476438"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0"/>
              </a:rPr>
              <a:t>Compare the restored output and quality metrics.</a:t>
            </a:r>
            <a:endParaRPr lang="en-US" sz="1700" dirty="0"/>
          </a:p>
        </p:txBody>
      </p:sp>
      <p:sp>
        <p:nvSpPr>
          <p:cNvPr id="17" name="Shape 15"/>
          <p:cNvSpPr/>
          <p:nvPr/>
        </p:nvSpPr>
        <p:spPr>
          <a:xfrm>
            <a:off x="457189" y="4266109"/>
            <a:ext cx="5410065" cy="1568946"/>
          </a:xfrm>
          <a:prstGeom prst="rect">
            <a:avLst/>
          </a:prstGeom>
          <a:solidFill>
            <a:srgbClr val="E2DAFB"/>
          </a:solidFill>
          <a:ln/>
        </p:spPr>
      </p:sp>
      <p:sp>
        <p:nvSpPr>
          <p:cNvPr id="18" name="Text 16"/>
          <p:cNvSpPr/>
          <p:nvPr/>
        </p:nvSpPr>
        <p:spPr>
          <a:xfrm>
            <a:off x="685783" y="4502329"/>
            <a:ext cx="5181470"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000000"/>
                </a:solidFill>
                <a:latin typeface="Fragment Mono" pitchFamily="34" charset="0"/>
                <a:ea typeface="Fragment Mono" pitchFamily="34" charset="-122"/>
                <a:cs typeface="Fragment Mono" pitchFamily="34" charset="0"/>
              </a:rPr>
              <a:t>SPATIAL DOMAIN</a:t>
            </a:r>
            <a:endParaRPr lang="en-US" sz="1300" dirty="0"/>
          </a:p>
        </p:txBody>
      </p:sp>
      <p:sp>
        <p:nvSpPr>
          <p:cNvPr id="19" name="Text 17"/>
          <p:cNvSpPr/>
          <p:nvPr/>
        </p:nvSpPr>
        <p:spPr>
          <a:xfrm>
            <a:off x="685783" y="4792762"/>
            <a:ext cx="4952876"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000000"/>
                </a:solidFill>
                <a:latin typeface="Inter Tight" pitchFamily="34" charset="0"/>
                <a:ea typeface="Inter Tight" pitchFamily="34" charset="-122"/>
                <a:cs typeface="Inter Tight" pitchFamily="34" charset="0"/>
              </a:rPr>
              <a:t>Spatial processing</a:t>
            </a:r>
            <a:endParaRPr lang="en-US" sz="2400" dirty="0"/>
          </a:p>
        </p:txBody>
      </p:sp>
      <p:sp>
        <p:nvSpPr>
          <p:cNvPr id="20" name="Text 18"/>
          <p:cNvSpPr/>
          <p:nvPr/>
        </p:nvSpPr>
        <p:spPr>
          <a:xfrm>
            <a:off x="685783" y="5323145"/>
            <a:ext cx="5181470" cy="291405"/>
          </a:xfrm>
          <a:prstGeom prst="rect">
            <a:avLst/>
          </a:prstGeom>
          <a:noFill/>
          <a:ln/>
        </p:spPr>
        <p:txBody>
          <a:bodyPr wrap="none" lIns="0" tIns="0" rIns="0" bIns="0" rtlCol="0" anchor="t"/>
          <a:lstStyle/>
          <a:p>
            <a:pPr marL="0" indent="0" algn="l">
              <a:lnSpc>
                <a:spcPct val="112000"/>
              </a:lnSpc>
              <a:buNone/>
            </a:pPr>
            <a:r>
              <a:rPr lang="en-US" sz="1700" dirty="0">
                <a:solidFill>
                  <a:srgbClr val="000000"/>
                </a:solidFill>
                <a:latin typeface="Inter Tight" pitchFamily="34" charset="0"/>
                <a:ea typeface="Inter Tight" pitchFamily="34" charset="-122"/>
                <a:cs typeface="Inter Tight" pitchFamily="34" charset="0"/>
              </a:rPr>
              <a:t>Works directly with neighbouring pixels.</a:t>
            </a:r>
            <a:endParaRPr lang="en-US" sz="1700" dirty="0"/>
          </a:p>
        </p:txBody>
      </p:sp>
      <p:sp>
        <p:nvSpPr>
          <p:cNvPr id="21" name="Shape 19"/>
          <p:cNvSpPr/>
          <p:nvPr/>
        </p:nvSpPr>
        <p:spPr>
          <a:xfrm>
            <a:off x="6324442" y="4266109"/>
            <a:ext cx="5410065" cy="1568946"/>
          </a:xfrm>
          <a:prstGeom prst="rect">
            <a:avLst/>
          </a:prstGeom>
          <a:solidFill>
            <a:srgbClr val="E2DAFB"/>
          </a:solidFill>
          <a:ln/>
        </p:spPr>
      </p:sp>
      <p:sp>
        <p:nvSpPr>
          <p:cNvPr id="22" name="Text 20"/>
          <p:cNvSpPr/>
          <p:nvPr/>
        </p:nvSpPr>
        <p:spPr>
          <a:xfrm>
            <a:off x="6553036" y="4502329"/>
            <a:ext cx="5181470"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000000"/>
                </a:solidFill>
                <a:latin typeface="Fragment Mono" pitchFamily="34" charset="0"/>
                <a:ea typeface="Fragment Mono" pitchFamily="34" charset="-122"/>
                <a:cs typeface="Fragment Mono" pitchFamily="34" charset="0"/>
              </a:rPr>
              <a:t>FREQUENCY DOMAIN</a:t>
            </a:r>
            <a:endParaRPr lang="en-US" sz="1300" dirty="0"/>
          </a:p>
        </p:txBody>
      </p:sp>
      <p:sp>
        <p:nvSpPr>
          <p:cNvPr id="23" name="Text 21"/>
          <p:cNvSpPr/>
          <p:nvPr/>
        </p:nvSpPr>
        <p:spPr>
          <a:xfrm>
            <a:off x="6553036" y="4792762"/>
            <a:ext cx="4952876"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000000"/>
                </a:solidFill>
                <a:latin typeface="Inter Tight" pitchFamily="34" charset="0"/>
                <a:ea typeface="Inter Tight" pitchFamily="34" charset="-122"/>
                <a:cs typeface="Inter Tight" pitchFamily="34" charset="0"/>
              </a:rPr>
              <a:t>Frequency processing</a:t>
            </a:r>
            <a:endParaRPr lang="en-US" sz="2400" dirty="0"/>
          </a:p>
        </p:txBody>
      </p:sp>
      <p:sp>
        <p:nvSpPr>
          <p:cNvPr id="24" name="Text 22"/>
          <p:cNvSpPr/>
          <p:nvPr/>
        </p:nvSpPr>
        <p:spPr>
          <a:xfrm>
            <a:off x="6553036" y="5323145"/>
            <a:ext cx="5181470" cy="291405"/>
          </a:xfrm>
          <a:prstGeom prst="rect">
            <a:avLst/>
          </a:prstGeom>
          <a:noFill/>
          <a:ln/>
        </p:spPr>
        <p:txBody>
          <a:bodyPr wrap="none" lIns="0" tIns="0" rIns="0" bIns="0" rtlCol="0" anchor="t"/>
          <a:lstStyle/>
          <a:p>
            <a:pPr marL="0" indent="0" algn="l">
              <a:lnSpc>
                <a:spcPct val="112000"/>
              </a:lnSpc>
              <a:buNone/>
            </a:pPr>
            <a:r>
              <a:rPr lang="en-US" sz="1700" dirty="0">
                <a:solidFill>
                  <a:srgbClr val="000000"/>
                </a:solidFill>
                <a:latin typeface="Inter Tight" pitchFamily="34" charset="0"/>
                <a:ea typeface="Inter Tight" pitchFamily="34" charset="-122"/>
                <a:cs typeface="Inter Tight" pitchFamily="34" charset="0"/>
              </a:rPr>
              <a:t>Uses DFT/FFT, filtering, and inverse transform.</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64820"/>
            <a:ext cx="11734506"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0"/>
              </a:rPr>
              <a:t>03 · FILTER LIBRARY</a:t>
            </a:r>
            <a:endParaRPr lang="en-US" sz="1300" dirty="0"/>
          </a:p>
        </p:txBody>
      </p:sp>
      <p:sp>
        <p:nvSpPr>
          <p:cNvPr id="3" name="Text 1"/>
          <p:cNvSpPr/>
          <p:nvPr/>
        </p:nvSpPr>
        <p:spPr>
          <a:xfrm>
            <a:off x="457189" y="785860"/>
            <a:ext cx="11277318" cy="431800"/>
          </a:xfrm>
          <a:prstGeom prst="rect">
            <a:avLst/>
          </a:prstGeom>
          <a:noFill/>
          <a:ln/>
        </p:spPr>
        <p:txBody>
          <a:bodyPr wrap="none" lIns="0" tIns="0" rIns="0" bIns="0" rtlCol="0" anchor="t"/>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0"/>
              </a:rPr>
              <a:t>Eight filters cover two complementary approaches</a:t>
            </a:r>
            <a:endParaRPr lang="en-US" sz="3400" dirty="0"/>
          </a:p>
        </p:txBody>
      </p:sp>
      <p:sp>
        <p:nvSpPr>
          <p:cNvPr id="4" name="Text 2"/>
          <p:cNvSpPr/>
          <p:nvPr/>
        </p:nvSpPr>
        <p:spPr>
          <a:xfrm>
            <a:off x="457189" y="1396762"/>
            <a:ext cx="11734506" cy="291405"/>
          </a:xfrm>
          <a:prstGeom prst="rect">
            <a:avLst/>
          </a:prstGeom>
          <a:noFill/>
          <a:ln/>
        </p:spPr>
        <p:txBody>
          <a:bodyPr wrap="none" lIns="0" tIns="0" rIns="0" bIns="0" rtlCol="0" anchor="t"/>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0"/>
              </a:rPr>
              <a:t>Choose a method by the damage it is designed to address.</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189" y="1873746"/>
          <a:ext cx="11277318" cy="914400"/>
        </p:xfrm>
        <a:graphic>
          <a:graphicData uri="http://schemas.openxmlformats.org/drawingml/2006/table">
            <a:tbl>
              <a:tblPr/>
              <a:tblGrid>
                <a:gridCol w="2481002">
                  <a:extLst>
                    <a:ext uri="{9D8B030D-6E8A-4147-A177-3AD203B41FA5}">
                      <a16:colId xmlns:a16="http://schemas.microsoft.com/office/drawing/2014/main" val="20000"/>
                    </a:ext>
                  </a:extLst>
                </a:gridCol>
                <a:gridCol w="4285349">
                  <a:extLst>
                    <a:ext uri="{9D8B030D-6E8A-4147-A177-3AD203B41FA5}">
                      <a16:colId xmlns:a16="http://schemas.microsoft.com/office/drawing/2014/main" val="20001"/>
                    </a:ext>
                  </a:extLst>
                </a:gridCol>
                <a:gridCol w="4510967">
                  <a:extLst>
                    <a:ext uri="{9D8B030D-6E8A-4147-A177-3AD203B41FA5}">
                      <a16:colId xmlns:a16="http://schemas.microsoft.com/office/drawing/2014/main" val="20002"/>
                    </a:ext>
                  </a:extLst>
                </a:gridCol>
              </a:tblGrid>
              <a:tr h="476734">
                <a:tc>
                  <a:txBody>
                    <a:bodyPr/>
                    <a:lstStyle/>
                    <a:p>
                      <a:pPr marL="0" indent="0" algn="l">
                        <a:buNone/>
                      </a:pPr>
                      <a:r>
                        <a:rPr lang="en-US" sz="1700" dirty="0">
                          <a:solidFill>
                            <a:srgbClr val="121212"/>
                          </a:solidFill>
                          <a:latin typeface="Inter Tight" pitchFamily="34" charset="0"/>
                          <a:ea typeface="Inter Tight" pitchFamily="34" charset="-122"/>
                          <a:cs typeface="Inter Tight" pitchFamily="34" charset="0"/>
                        </a:rPr>
                        <a:t>Domain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21212"/>
                          </a:solidFill>
                          <a:latin typeface="Inter Tight" pitchFamily="34" charset="0"/>
                          <a:ea typeface="Inter Tight" pitchFamily="34" charset="-122"/>
                          <a:cs typeface="Inter Tight" pitchFamily="34" charset="0"/>
                        </a:rPr>
                        <a:t>Filter</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21212"/>
                          </a:solidFill>
                          <a:latin typeface="Inter Tight" pitchFamily="34" charset="0"/>
                          <a:ea typeface="Inter Tight" pitchFamily="34" charset="-122"/>
                          <a:cs typeface="Inter Tight" pitchFamily="34" charset="0"/>
                        </a:rPr>
                        <a:t>Primary use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0"/>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0"/>
                        </a:rPr>
                        <a:t>Spatial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2DAFB"/>
                      </a:solidFill>
                      <a:prstDash val="solid"/>
                      <a:round/>
                      <a:headEnd type="none" w="med" len="med"/>
                      <a:tailEnd type="none" w="med" len="med"/>
                    </a:lnL>
                    <a:lnR w="12700" cap="flat" cmpd="sng" algn="ctr">
                      <a:solidFill>
                        <a:srgbClr val="E2DAFB"/>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2DAFB"/>
                    </a:solidFill>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Arithmetic mean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2DAFB"/>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Smooths local variation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1"/>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0"/>
                        </a:rPr>
                        <a:t>Spatial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2DAFB"/>
                      </a:solidFill>
                      <a:prstDash val="solid"/>
                      <a:round/>
                      <a:headEnd type="none" w="med" len="med"/>
                      <a:tailEnd type="none" w="med" len="med"/>
                    </a:lnL>
                    <a:lnR w="12700" cap="flat" cmpd="sng" algn="ctr">
                      <a:solidFill>
                        <a:srgbClr val="E2DAFB"/>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2DAFB"/>
                    </a:solidFill>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Geometric mean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2DAFB"/>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Multiplicative-noise smoothing</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2"/>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0"/>
                        </a:rPr>
                        <a:t>Spatial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2DAFB"/>
                      </a:solidFill>
                      <a:prstDash val="solid"/>
                      <a:round/>
                      <a:headEnd type="none" w="med" len="med"/>
                      <a:tailEnd type="none" w="med" len="med"/>
                    </a:lnL>
                    <a:lnR w="12700" cap="flat" cmpd="sng" algn="ctr">
                      <a:solidFill>
                        <a:srgbClr val="E2DAFB"/>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2DAFB"/>
                    </a:solidFill>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Median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2DAFB"/>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Impulse-noise removal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3"/>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0"/>
                        </a:rPr>
                        <a:t>Spatial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2DAFB"/>
                      </a:solidFill>
                      <a:prstDash val="solid"/>
                      <a:round/>
                      <a:headEnd type="none" w="med" len="med"/>
                      <a:tailEnd type="none" w="med" len="med"/>
                    </a:lnL>
                    <a:lnR w="12700" cap="flat" cmpd="sng" algn="ctr">
                      <a:solidFill>
                        <a:srgbClr val="E2DAFB"/>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2DAFB"/>
                    </a:solidFill>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Adaptive median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2DAFB"/>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Variable impulse-noise suppression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4"/>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0"/>
                        </a:rPr>
                        <a:t>Frequency</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A186F3"/>
                      </a:solidFill>
                      <a:prstDash val="solid"/>
                      <a:round/>
                      <a:headEnd type="none" w="med" len="med"/>
                      <a:tailEnd type="none" w="med" len="med"/>
                    </a:lnL>
                    <a:lnR w="12700" cap="flat" cmpd="sng" algn="ctr">
                      <a:solidFill>
                        <a:srgbClr val="A186F3"/>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A186F3"/>
                    </a:solidFill>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Inverse · Wiener</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A186F3"/>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Deblurring and noise-aware recovery</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5"/>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0"/>
                        </a:rPr>
                        <a:t>Frequency</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A186F3"/>
                      </a:solidFill>
                      <a:prstDash val="solid"/>
                      <a:round/>
                      <a:headEnd type="none" w="med" len="med"/>
                      <a:tailEnd type="none" w="med" len="med"/>
                    </a:lnL>
                    <a:lnR w="12700" cap="flat" cmpd="sng" algn="ctr">
                      <a:solidFill>
                        <a:srgbClr val="A186F3"/>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A186F3"/>
                    </a:solidFill>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Gaussian low-pass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A186F3"/>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Gentle high-frequency smoothing</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6"/>
                  </a:ext>
                </a:extLst>
              </a:tr>
              <a:tr h="4640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0"/>
                        </a:rPr>
                        <a:t>Frequency</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A186F3"/>
                      </a:solidFill>
                      <a:prstDash val="solid"/>
                      <a:round/>
                      <a:headEnd type="none" w="med" len="med"/>
                      <a:tailEnd type="none" w="med" len="med"/>
                    </a:lnL>
                    <a:lnR w="12700" cap="flat" cmpd="sng" algn="ctr">
                      <a:solidFill>
                        <a:srgbClr val="A186F3"/>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A186F3"/>
                      </a:solidFill>
                      <a:prstDash val="solid"/>
                      <a:round/>
                      <a:headEnd type="none" w="med" len="med"/>
                      <a:tailEnd type="none" w="med" len="med"/>
                    </a:lnB>
                    <a:solidFill>
                      <a:srgbClr val="A186F3"/>
                    </a:solidFill>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Butterworth low-pass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A186F3"/>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0"/>
                        </a:rPr>
                        <a:t>Controlled frequency cutoff</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439420"/>
            <a:ext cx="6705432"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0"/>
              </a:rPr>
              <a:t>04 · IMPLEMENTATION</a:t>
            </a:r>
            <a:endParaRPr lang="en-US" sz="1300" dirty="0"/>
          </a:p>
        </p:txBody>
      </p:sp>
      <p:sp>
        <p:nvSpPr>
          <p:cNvPr id="3" name="Text 1"/>
          <p:cNvSpPr/>
          <p:nvPr/>
        </p:nvSpPr>
        <p:spPr>
          <a:xfrm>
            <a:off x="609585" y="760460"/>
            <a:ext cx="6248244" cy="863600"/>
          </a:xfrm>
          <a:prstGeom prst="rect">
            <a:avLst/>
          </a:prstGeom>
          <a:noFill/>
          <a:ln/>
        </p:spPr>
        <p:txBody>
          <a:bodyPr wrap="square" lIns="0" tIns="0" rIns="0" bIns="0" rtlCol="0" anchor="t">
            <a:normAutofit lnSpcReduction="10000"/>
          </a:bodyPr>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0"/>
              </a:rPr>
              <a:t>The implementation makes comparison repeatable</a:t>
            </a:r>
            <a:endParaRPr lang="en-US" sz="3400" dirty="0"/>
          </a:p>
        </p:txBody>
      </p:sp>
      <p:sp>
        <p:nvSpPr>
          <p:cNvPr id="4" name="Text 2"/>
          <p:cNvSpPr/>
          <p:nvPr/>
        </p:nvSpPr>
        <p:spPr>
          <a:xfrm>
            <a:off x="609585" y="1809353"/>
            <a:ext cx="6248244"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121212"/>
                </a:solidFill>
                <a:latin typeface="Inter Tight" pitchFamily="34" charset="0"/>
                <a:ea typeface="Inter Tight" pitchFamily="34" charset="-122"/>
                <a:cs typeface="Inter Tight" pitchFamily="34" charset="0"/>
              </a:rPr>
              <a:t>One offline HTML file</a:t>
            </a:r>
            <a:endParaRPr lang="en-US" sz="2400" dirty="0"/>
          </a:p>
        </p:txBody>
      </p:sp>
      <p:sp>
        <p:nvSpPr>
          <p:cNvPr id="5" name="Text 3"/>
          <p:cNvSpPr/>
          <p:nvPr/>
        </p:nvSpPr>
        <p:spPr>
          <a:xfrm>
            <a:off x="609585" y="2336165"/>
            <a:ext cx="6248244" cy="248543"/>
          </a:xfrm>
          <a:prstGeom prst="rect">
            <a:avLst/>
          </a:prstGeom>
          <a:noFill/>
          <a:ln/>
        </p:spPr>
        <p:txBody>
          <a:bodyPr wrap="none" lIns="0" tIns="0" rIns="0" bIns="0" rtlCol="0" anchor="t"/>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0"/>
              </a:rPr>
              <a:t>HTML, CSS, and JavaScript keep the tool portable.</a:t>
            </a:r>
            <a:endParaRPr lang="en-US" sz="1450" dirty="0"/>
          </a:p>
        </p:txBody>
      </p:sp>
      <p:sp>
        <p:nvSpPr>
          <p:cNvPr id="6" name="Text 4"/>
          <p:cNvSpPr/>
          <p:nvPr/>
        </p:nvSpPr>
        <p:spPr>
          <a:xfrm>
            <a:off x="609585" y="3051671"/>
            <a:ext cx="6248244"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121212"/>
                </a:solidFill>
                <a:latin typeface="Inter Tight" pitchFamily="34" charset="0"/>
                <a:ea typeface="Inter Tight" pitchFamily="34" charset="-122"/>
                <a:cs typeface="Inter Tight" pitchFamily="34" charset="0"/>
              </a:rPr>
              <a:t>Controlled workflow</a:t>
            </a:r>
            <a:endParaRPr lang="en-US" sz="2400" dirty="0"/>
          </a:p>
        </p:txBody>
      </p:sp>
      <p:sp>
        <p:nvSpPr>
          <p:cNvPr id="7" name="Text 5"/>
          <p:cNvSpPr/>
          <p:nvPr/>
        </p:nvSpPr>
        <p:spPr>
          <a:xfrm>
            <a:off x="609585" y="3578483"/>
            <a:ext cx="6248244" cy="497086"/>
          </a:xfrm>
          <a:prstGeom prst="rect">
            <a:avLst/>
          </a:prstGeom>
          <a:noFill/>
          <a:ln/>
        </p:spPr>
        <p:txBody>
          <a:bodyPr wrap="square" lIns="0" tIns="0" rIns="0" bIns="0" rtlCol="0" anchor="t">
            <a:normAutofit/>
          </a:bodyPr>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0"/>
              </a:rPr>
              <a:t>Choose image → damage image → select filter and tune sliders → compare original, damaged, and restored outputs.</a:t>
            </a:r>
            <a:endParaRPr lang="en-US" sz="1450" dirty="0"/>
          </a:p>
        </p:txBody>
      </p:sp>
      <p:sp>
        <p:nvSpPr>
          <p:cNvPr id="8" name="Text 6"/>
          <p:cNvSpPr/>
          <p:nvPr/>
        </p:nvSpPr>
        <p:spPr>
          <a:xfrm>
            <a:off x="609585" y="4542532"/>
            <a:ext cx="6248244"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121212"/>
                </a:solidFill>
                <a:latin typeface="Inter Tight" pitchFamily="34" charset="0"/>
                <a:ea typeface="Inter Tight" pitchFamily="34" charset="-122"/>
                <a:cs typeface="Inter Tight" pitchFamily="34" charset="0"/>
              </a:rPr>
              <a:t>Preset experiments</a:t>
            </a:r>
            <a:endParaRPr lang="en-US" sz="2400" dirty="0"/>
          </a:p>
        </p:txBody>
      </p:sp>
      <p:sp>
        <p:nvSpPr>
          <p:cNvPr id="9" name="Text 7"/>
          <p:cNvSpPr/>
          <p:nvPr/>
        </p:nvSpPr>
        <p:spPr>
          <a:xfrm>
            <a:off x="609585" y="5069344"/>
            <a:ext cx="6248244" cy="248543"/>
          </a:xfrm>
          <a:prstGeom prst="rect">
            <a:avLst/>
          </a:prstGeom>
          <a:noFill/>
          <a:ln/>
        </p:spPr>
        <p:txBody>
          <a:bodyPr wrap="none" lIns="0" tIns="0" rIns="0" bIns="0" rtlCol="0" anchor="t"/>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0"/>
              </a:rPr>
              <a:t>Salt &amp; Pepper Dust · Gaussian Grain · Optical Blur · Inverse Filter Failure</a:t>
            </a:r>
            <a:endParaRPr lang="en-US" sz="1450" dirty="0"/>
          </a:p>
        </p:txBody>
      </p:sp>
      <p:sp>
        <p:nvSpPr>
          <p:cNvPr id="10" name="Shape 8"/>
          <p:cNvSpPr/>
          <p:nvPr/>
        </p:nvSpPr>
        <p:spPr>
          <a:xfrm>
            <a:off x="7315017" y="0"/>
            <a:ext cx="4876678" cy="6858000"/>
          </a:xfrm>
          <a:prstGeom prst="rect">
            <a:avLst/>
          </a:prstGeom>
          <a:solidFill>
            <a:srgbClr val="E2DAFB"/>
          </a:solidFill>
          <a:ln/>
        </p:spPr>
      </p:sp>
      <p:sp>
        <p:nvSpPr>
          <p:cNvPr id="11" name="Shape 9"/>
          <p:cNvSpPr/>
          <p:nvPr/>
        </p:nvSpPr>
        <p:spPr>
          <a:xfrm>
            <a:off x="609585" y="2802434"/>
            <a:ext cx="6248244" cy="12700"/>
          </a:xfrm>
          <a:prstGeom prst="rect">
            <a:avLst/>
          </a:prstGeom>
          <a:solidFill>
            <a:srgbClr val="1A1A1A"/>
          </a:solidFill>
          <a:ln/>
        </p:spPr>
      </p:sp>
      <p:sp>
        <p:nvSpPr>
          <p:cNvPr id="12" name="Shape 10"/>
          <p:cNvSpPr/>
          <p:nvPr/>
        </p:nvSpPr>
        <p:spPr>
          <a:xfrm>
            <a:off x="609585" y="4293295"/>
            <a:ext cx="6248244" cy="12700"/>
          </a:xfrm>
          <a:prstGeom prst="rect">
            <a:avLst/>
          </a:prstGeom>
          <a:solidFill>
            <a:srgbClr val="1A1A1A"/>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64820"/>
            <a:ext cx="11734506"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0"/>
              </a:rPr>
              <a:t>05 · EXPERIMENTAL RESULT</a:t>
            </a:r>
            <a:endParaRPr lang="en-US" sz="1300" dirty="0"/>
          </a:p>
        </p:txBody>
      </p:sp>
      <p:sp>
        <p:nvSpPr>
          <p:cNvPr id="3" name="Text 1"/>
          <p:cNvSpPr/>
          <p:nvPr/>
        </p:nvSpPr>
        <p:spPr>
          <a:xfrm>
            <a:off x="457189" y="785860"/>
            <a:ext cx="11277318" cy="431800"/>
          </a:xfrm>
          <a:prstGeom prst="rect">
            <a:avLst/>
          </a:prstGeom>
          <a:noFill/>
          <a:ln/>
        </p:spPr>
        <p:txBody>
          <a:bodyPr wrap="none" lIns="0" tIns="0" rIns="0" bIns="0" rtlCol="0" anchor="t"/>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0"/>
              </a:rPr>
              <a:t>Adaptive median leads on impulse noise</a:t>
            </a:r>
            <a:endParaRPr lang="en-US" sz="3400" dirty="0"/>
          </a:p>
        </p:txBody>
      </p:sp>
      <p:sp>
        <p:nvSpPr>
          <p:cNvPr id="4" name="Text 2"/>
          <p:cNvSpPr/>
          <p:nvPr/>
        </p:nvSpPr>
        <p:spPr>
          <a:xfrm>
            <a:off x="457189" y="1396762"/>
            <a:ext cx="11734506" cy="291405"/>
          </a:xfrm>
          <a:prstGeom prst="rect">
            <a:avLst/>
          </a:prstGeom>
          <a:noFill/>
          <a:ln/>
        </p:spPr>
        <p:txBody>
          <a:bodyPr wrap="none" lIns="0" tIns="0" rIns="0" bIns="0" rtlCol="0" anchor="t"/>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0"/>
              </a:rPr>
              <a:t>Experimental averages over three sample images · higher PSNR generally indicates lower pixel error.</a:t>
            </a:r>
            <a:endParaRPr lang="en-US" sz="1700" dirty="0"/>
          </a:p>
        </p:txBody>
      </p:sp>
      <p:pic>
        <p:nvPicPr>
          <p:cNvPr id="5" name="Image 0" descr="preencoded.png"/>
          <p:cNvPicPr>
            <a:picLocks noChangeAspect="1"/>
          </p:cNvPicPr>
          <p:nvPr/>
        </p:nvPicPr>
        <p:blipFill>
          <a:blip r:embed="rId3"/>
          <a:stretch>
            <a:fillRect/>
          </a:stretch>
        </p:blipFill>
        <p:spPr>
          <a:xfrm>
            <a:off x="457189" y="1873746"/>
            <a:ext cx="10413739" cy="4191000"/>
          </a:xfrm>
          <a:prstGeom prst="rect">
            <a:avLst/>
          </a:prstGeom>
        </p:spPr>
      </p:pic>
      <p:sp>
        <p:nvSpPr>
          <p:cNvPr id="6" name="Text 3"/>
          <p:cNvSpPr/>
          <p:nvPr/>
        </p:nvSpPr>
        <p:spPr>
          <a:xfrm>
            <a:off x="457189" y="6153964"/>
            <a:ext cx="11734506" cy="214610"/>
          </a:xfrm>
          <a:prstGeom prst="rect">
            <a:avLst/>
          </a:prstGeom>
          <a:noFill/>
          <a:ln/>
        </p:spPr>
        <p:txBody>
          <a:bodyPr wrap="none" lIns="0" tIns="0" rIns="0" bIns="0" rtlCol="0" anchor="t"/>
          <a:lstStyle/>
          <a:p>
            <a:pPr marL="0" indent="0" algn="l">
              <a:lnSpc>
                <a:spcPct val="108000"/>
              </a:lnSpc>
              <a:buNone/>
            </a:pPr>
            <a:r>
              <a:rPr lang="en-US" sz="1300" dirty="0">
                <a:solidFill>
                  <a:srgbClr val="262626"/>
                </a:solidFill>
                <a:latin typeface="Fragment Mono" pitchFamily="34" charset="0"/>
                <a:ea typeface="Fragment Mono" pitchFamily="34" charset="-122"/>
                <a:cs typeface="Fragment Mono" pitchFamily="34" charset="0"/>
              </a:rPr>
              <a:t>AVERAGE PSNR (DB), THREE SAMPLE IMAGES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1064300"/>
            <a:ext cx="3845523"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0"/>
              </a:rPr>
              <a:t>06 · WHY THE GAP?</a:t>
            </a:r>
            <a:endParaRPr lang="en-US" sz="1300" dirty="0"/>
          </a:p>
        </p:txBody>
      </p:sp>
      <p:sp>
        <p:nvSpPr>
          <p:cNvPr id="3" name="Text 1"/>
          <p:cNvSpPr/>
          <p:nvPr/>
        </p:nvSpPr>
        <p:spPr>
          <a:xfrm>
            <a:off x="457189" y="1385340"/>
            <a:ext cx="3388335" cy="1727200"/>
          </a:xfrm>
          <a:prstGeom prst="rect">
            <a:avLst/>
          </a:prstGeom>
          <a:noFill/>
          <a:ln/>
        </p:spPr>
        <p:txBody>
          <a:bodyPr wrap="square" lIns="0" tIns="0" rIns="0" bIns="0" rtlCol="0" anchor="t">
            <a:normAutofit/>
          </a:bodyPr>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0"/>
              </a:rPr>
              <a:t>Why Wiener outperforms inverse filtering with noise</a:t>
            </a:r>
            <a:endParaRPr lang="en-US" sz="3400" dirty="0"/>
          </a:p>
        </p:txBody>
      </p:sp>
      <p:sp>
        <p:nvSpPr>
          <p:cNvPr id="4" name="Text 2"/>
          <p:cNvSpPr/>
          <p:nvPr/>
        </p:nvSpPr>
        <p:spPr>
          <a:xfrm>
            <a:off x="457189" y="3291642"/>
            <a:ext cx="3388335" cy="1457027"/>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0"/>
              </a:rPr>
              <a:t>Inverse filtering divides by the blur response. When that response is very small, the division can amplify noise instead of recovering the image.</a:t>
            </a:r>
            <a:endParaRPr lang="en-US" sz="1700" dirty="0"/>
          </a:p>
        </p:txBody>
      </p:sp>
      <p:sp>
        <p:nvSpPr>
          <p:cNvPr id="5" name="Shape 3"/>
          <p:cNvSpPr/>
          <p:nvPr/>
        </p:nvSpPr>
        <p:spPr>
          <a:xfrm>
            <a:off x="457189" y="4934248"/>
            <a:ext cx="2131463" cy="336649"/>
          </a:xfrm>
          <a:prstGeom prst="rect">
            <a:avLst/>
          </a:prstGeom>
          <a:solidFill>
            <a:srgbClr val="1A1A1A"/>
          </a:solidFill>
          <a:ln/>
        </p:spPr>
      </p:sp>
      <p:sp>
        <p:nvSpPr>
          <p:cNvPr id="6" name="Text 4"/>
          <p:cNvSpPr/>
          <p:nvPr/>
        </p:nvSpPr>
        <p:spPr>
          <a:xfrm>
            <a:off x="586666" y="5004272"/>
            <a:ext cx="2482093"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FFFFFF"/>
                </a:solidFill>
                <a:latin typeface="Fragment Mono" pitchFamily="34" charset="0"/>
                <a:ea typeface="Fragment Mono" pitchFamily="34" charset="-122"/>
                <a:cs typeface="Fragment Mono" pitchFamily="34" charset="0"/>
              </a:rPr>
              <a:t>8.69 DB · INVERSE</a:t>
            </a:r>
            <a:endParaRPr lang="en-US" sz="1350" dirty="0"/>
          </a:p>
        </p:txBody>
      </p:sp>
      <p:sp>
        <p:nvSpPr>
          <p:cNvPr id="7" name="Shape 5"/>
          <p:cNvSpPr/>
          <p:nvPr/>
        </p:nvSpPr>
        <p:spPr>
          <a:xfrm>
            <a:off x="457189" y="5464572"/>
            <a:ext cx="2131463" cy="336649"/>
          </a:xfrm>
          <a:prstGeom prst="rect">
            <a:avLst/>
          </a:prstGeom>
          <a:noFill/>
          <a:ln w="6350">
            <a:solidFill>
              <a:srgbClr val="1A1A1A"/>
            </a:solidFill>
            <a:prstDash val="solid"/>
          </a:ln>
        </p:spPr>
      </p:sp>
      <p:sp>
        <p:nvSpPr>
          <p:cNvPr id="8" name="Text 6"/>
          <p:cNvSpPr/>
          <p:nvPr/>
        </p:nvSpPr>
        <p:spPr>
          <a:xfrm>
            <a:off x="586666" y="5534597"/>
            <a:ext cx="2482093"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1A1A1A"/>
                </a:solidFill>
                <a:latin typeface="Fragment Mono" pitchFamily="34" charset="0"/>
                <a:ea typeface="Fragment Mono" pitchFamily="34" charset="-122"/>
                <a:cs typeface="Fragment Mono" pitchFamily="34" charset="0"/>
              </a:rPr>
              <a:t>22.35 DB · WIENER</a:t>
            </a:r>
            <a:endParaRPr lang="en-US" sz="1350" dirty="0"/>
          </a:p>
        </p:txBody>
      </p:sp>
      <p:sp>
        <p:nvSpPr>
          <p:cNvPr id="9" name="Shape 7"/>
          <p:cNvSpPr/>
          <p:nvPr/>
        </p:nvSpPr>
        <p:spPr>
          <a:xfrm>
            <a:off x="4759801" y="0"/>
            <a:ext cx="7431894" cy="6858000"/>
          </a:xfrm>
          <a:prstGeom prst="rect">
            <a:avLst/>
          </a:prstGeom>
          <a:solidFill>
            <a:srgbClr val="E2DAFB"/>
          </a:solidFill>
          <a:ln/>
        </p:spPr>
      </p:sp>
      <p:sp>
        <p:nvSpPr>
          <p:cNvPr id="10" name="Text 8"/>
          <p:cNvSpPr/>
          <p:nvPr/>
        </p:nvSpPr>
        <p:spPr>
          <a:xfrm>
            <a:off x="5064594" y="287020"/>
            <a:ext cx="7127101"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000000"/>
                </a:solidFill>
                <a:latin typeface="Fragment Mono" pitchFamily="34" charset="0"/>
                <a:ea typeface="Fragment Mono" pitchFamily="34" charset="-122"/>
                <a:cs typeface="Fragment Mono" pitchFamily="34" charset="0"/>
              </a:rPr>
              <a:t>BLUR + GAUSSIAN NOISE</a:t>
            </a:r>
            <a:endParaRPr lang="en-US" sz="1300" dirty="0"/>
          </a:p>
        </p:txBody>
      </p:sp>
      <p:sp>
        <p:nvSpPr>
          <p:cNvPr id="11" name="Shape 9"/>
          <p:cNvSpPr/>
          <p:nvPr/>
        </p:nvSpPr>
        <p:spPr>
          <a:xfrm>
            <a:off x="5064594" y="671116"/>
            <a:ext cx="485763" cy="485775"/>
          </a:xfrm>
          <a:prstGeom prst="roundRect">
            <a:avLst>
              <a:gd name="adj" fmla="val 2353"/>
            </a:avLst>
          </a:prstGeom>
          <a:solidFill>
            <a:srgbClr val="A186F3"/>
          </a:solidFill>
          <a:ln w="12700">
            <a:solidFill>
              <a:srgbClr val="876CD9"/>
            </a:solidFill>
            <a:prstDash val="solid"/>
          </a:ln>
        </p:spPr>
      </p:sp>
      <p:sp>
        <p:nvSpPr>
          <p:cNvPr id="12" name="Text 10"/>
          <p:cNvSpPr/>
          <p:nvPr/>
        </p:nvSpPr>
        <p:spPr>
          <a:xfrm>
            <a:off x="5145554" y="752078"/>
            <a:ext cx="323842" cy="323850"/>
          </a:xfrm>
          <a:prstGeom prst="rect">
            <a:avLst/>
          </a:prstGeom>
          <a:noFill/>
          <a:ln/>
        </p:spPr>
        <p:txBody>
          <a:bodyPr wrap="none" lIns="0" tIns="0" rIns="0" bIns="0" rtlCol="0" anchor="ctr"/>
          <a:lstStyle/>
          <a:p>
            <a:pPr marL="0" indent="0" algn="ctr">
              <a:lnSpc>
                <a:spcPct val="100000"/>
              </a:lnSpc>
              <a:buNone/>
            </a:pPr>
            <a:r>
              <a:rPr lang="en-US" sz="2550" kern="100" spc="-89" dirty="0">
                <a:solidFill>
                  <a:srgbClr val="000000"/>
                </a:solidFill>
                <a:latin typeface="Inter Tight SemiBold" pitchFamily="34" charset="0"/>
                <a:ea typeface="Inter Tight SemiBold" pitchFamily="34" charset="-122"/>
                <a:cs typeface="Inter Tight SemiBold" pitchFamily="34" charset="0"/>
              </a:rPr>
              <a:t>1</a:t>
            </a:r>
            <a:endParaRPr lang="en-US" sz="2550" dirty="0"/>
          </a:p>
        </p:txBody>
      </p:sp>
      <p:sp>
        <p:nvSpPr>
          <p:cNvPr id="13" name="Text 11"/>
          <p:cNvSpPr/>
          <p:nvPr/>
        </p:nvSpPr>
        <p:spPr>
          <a:xfrm>
            <a:off x="5766251" y="779066"/>
            <a:ext cx="6120652" cy="301625"/>
          </a:xfrm>
          <a:prstGeom prst="rect">
            <a:avLst/>
          </a:prstGeom>
          <a:noFill/>
          <a:ln/>
        </p:spPr>
        <p:txBody>
          <a:bodyPr wrap="none" lIns="0" tIns="0" rIns="0" bIns="0" rtlCol="0" anchor="t"/>
          <a:lstStyle/>
          <a:p>
            <a:pPr marL="0" indent="0" algn="l">
              <a:lnSpc>
                <a:spcPct val="104000"/>
              </a:lnSpc>
              <a:buNone/>
            </a:pPr>
            <a:r>
              <a:rPr lang="en-US" sz="1900" kern="100" spc="-66" dirty="0">
                <a:solidFill>
                  <a:srgbClr val="000000"/>
                </a:solidFill>
                <a:latin typeface="Inter Tight SemiBold" pitchFamily="34" charset="0"/>
                <a:ea typeface="Inter Tight SemiBold" pitchFamily="34" charset="-122"/>
                <a:cs typeface="Inter Tight SemiBold" pitchFamily="34" charset="0"/>
              </a:rPr>
              <a:t>Blur response</a:t>
            </a:r>
            <a:endParaRPr lang="en-US" sz="1900" dirty="0"/>
          </a:p>
        </p:txBody>
      </p:sp>
      <p:sp>
        <p:nvSpPr>
          <p:cNvPr id="14" name="Text 12"/>
          <p:cNvSpPr/>
          <p:nvPr/>
        </p:nvSpPr>
        <p:spPr>
          <a:xfrm>
            <a:off x="5766251" y="1210171"/>
            <a:ext cx="6120652" cy="291405"/>
          </a:xfrm>
          <a:prstGeom prst="rect">
            <a:avLst/>
          </a:prstGeom>
          <a:noFill/>
          <a:ln/>
        </p:spPr>
        <p:txBody>
          <a:bodyPr wrap="none" lIns="0" tIns="0" rIns="0" bIns="0" rtlCol="0" anchor="t"/>
          <a:lstStyle/>
          <a:p>
            <a:pPr marL="0" indent="0" algn="l">
              <a:lnSpc>
                <a:spcPct val="112000"/>
              </a:lnSpc>
              <a:buNone/>
            </a:pPr>
            <a:r>
              <a:rPr lang="en-US" sz="1700" dirty="0">
                <a:solidFill>
                  <a:srgbClr val="000000"/>
                </a:solidFill>
                <a:latin typeface="Inter Tight" pitchFamily="34" charset="0"/>
                <a:ea typeface="Inter Tight" pitchFamily="34" charset="-122"/>
                <a:cs typeface="Inter Tight" pitchFamily="34" charset="0"/>
              </a:rPr>
              <a:t>Some frequencies become weak.</a:t>
            </a:r>
            <a:endParaRPr lang="en-US" sz="1700" dirty="0"/>
          </a:p>
        </p:txBody>
      </p:sp>
      <p:sp>
        <p:nvSpPr>
          <p:cNvPr id="15" name="Shape 13"/>
          <p:cNvSpPr/>
          <p:nvPr/>
        </p:nvSpPr>
        <p:spPr>
          <a:xfrm>
            <a:off x="5064594" y="1933377"/>
            <a:ext cx="485763" cy="485775"/>
          </a:xfrm>
          <a:prstGeom prst="roundRect">
            <a:avLst>
              <a:gd name="adj" fmla="val 2353"/>
            </a:avLst>
          </a:prstGeom>
          <a:solidFill>
            <a:srgbClr val="6E54C9"/>
          </a:solidFill>
          <a:ln w="12700">
            <a:solidFill>
              <a:srgbClr val="876DE2"/>
            </a:solidFill>
            <a:prstDash val="solid"/>
          </a:ln>
        </p:spPr>
      </p:sp>
      <p:sp>
        <p:nvSpPr>
          <p:cNvPr id="16" name="Text 14"/>
          <p:cNvSpPr/>
          <p:nvPr/>
        </p:nvSpPr>
        <p:spPr>
          <a:xfrm>
            <a:off x="5145554" y="2014339"/>
            <a:ext cx="323842" cy="323850"/>
          </a:xfrm>
          <a:prstGeom prst="rect">
            <a:avLst/>
          </a:prstGeom>
          <a:noFill/>
          <a:ln/>
        </p:spPr>
        <p:txBody>
          <a:bodyPr wrap="none" lIns="0" tIns="0" rIns="0" bIns="0" rtlCol="0" anchor="ctr"/>
          <a:lstStyle/>
          <a:p>
            <a:pPr marL="0" indent="0" algn="ctr">
              <a:lnSpc>
                <a:spcPct val="100000"/>
              </a:lnSpc>
              <a:buNone/>
            </a:pPr>
            <a:r>
              <a:rPr lang="en-US" sz="2550" kern="100" spc="-89" dirty="0">
                <a:solidFill>
                  <a:srgbClr val="FFFFFF"/>
                </a:solidFill>
                <a:latin typeface="Inter Tight SemiBold" pitchFamily="34" charset="0"/>
                <a:ea typeface="Inter Tight SemiBold" pitchFamily="34" charset="-122"/>
                <a:cs typeface="Inter Tight SemiBold" pitchFamily="34" charset="0"/>
              </a:rPr>
              <a:t>2</a:t>
            </a:r>
            <a:endParaRPr lang="en-US" sz="2550" dirty="0"/>
          </a:p>
        </p:txBody>
      </p:sp>
      <p:sp>
        <p:nvSpPr>
          <p:cNvPr id="17" name="Text 15"/>
          <p:cNvSpPr/>
          <p:nvPr/>
        </p:nvSpPr>
        <p:spPr>
          <a:xfrm>
            <a:off x="5766251" y="2041327"/>
            <a:ext cx="6120652" cy="301625"/>
          </a:xfrm>
          <a:prstGeom prst="rect">
            <a:avLst/>
          </a:prstGeom>
          <a:noFill/>
          <a:ln/>
        </p:spPr>
        <p:txBody>
          <a:bodyPr wrap="none" lIns="0" tIns="0" rIns="0" bIns="0" rtlCol="0" anchor="t"/>
          <a:lstStyle/>
          <a:p>
            <a:pPr marL="0" indent="0" algn="l">
              <a:lnSpc>
                <a:spcPct val="104000"/>
              </a:lnSpc>
              <a:buNone/>
            </a:pPr>
            <a:r>
              <a:rPr lang="en-US" sz="1900" kern="100" spc="-66" dirty="0">
                <a:solidFill>
                  <a:srgbClr val="000000"/>
                </a:solidFill>
                <a:latin typeface="Inter Tight SemiBold" pitchFamily="34" charset="0"/>
                <a:ea typeface="Inter Tight SemiBold" pitchFamily="34" charset="-122"/>
                <a:cs typeface="Inter Tight SemiBold" pitchFamily="34" charset="0"/>
              </a:rPr>
              <a:t>Inverse division</a:t>
            </a:r>
            <a:endParaRPr lang="en-US" sz="1900" dirty="0"/>
          </a:p>
        </p:txBody>
      </p:sp>
      <p:sp>
        <p:nvSpPr>
          <p:cNvPr id="18" name="Text 16"/>
          <p:cNvSpPr/>
          <p:nvPr/>
        </p:nvSpPr>
        <p:spPr>
          <a:xfrm>
            <a:off x="5766251" y="2472432"/>
            <a:ext cx="6120652" cy="291405"/>
          </a:xfrm>
          <a:prstGeom prst="rect">
            <a:avLst/>
          </a:prstGeom>
          <a:noFill/>
          <a:ln/>
        </p:spPr>
        <p:txBody>
          <a:bodyPr wrap="none" lIns="0" tIns="0" rIns="0" bIns="0" rtlCol="0" anchor="t"/>
          <a:lstStyle/>
          <a:p>
            <a:pPr marL="0" indent="0" algn="l">
              <a:lnSpc>
                <a:spcPct val="112000"/>
              </a:lnSpc>
              <a:buNone/>
            </a:pPr>
            <a:r>
              <a:rPr lang="en-US" sz="1700" dirty="0">
                <a:solidFill>
                  <a:srgbClr val="000000"/>
                </a:solidFill>
                <a:latin typeface="Inter Tight" pitchFamily="34" charset="0"/>
                <a:ea typeface="Inter Tight" pitchFamily="34" charset="-122"/>
                <a:cs typeface="Inter Tight" pitchFamily="34" charset="0"/>
              </a:rPr>
              <a:t>Weak responses magnify noise.</a:t>
            </a:r>
            <a:endParaRPr lang="en-US" sz="1700" dirty="0"/>
          </a:p>
        </p:txBody>
      </p:sp>
      <p:sp>
        <p:nvSpPr>
          <p:cNvPr id="19" name="Shape 17"/>
          <p:cNvSpPr/>
          <p:nvPr/>
        </p:nvSpPr>
        <p:spPr>
          <a:xfrm>
            <a:off x="5064594" y="3195638"/>
            <a:ext cx="485763" cy="485775"/>
          </a:xfrm>
          <a:prstGeom prst="roundRect">
            <a:avLst>
              <a:gd name="adj" fmla="val 2353"/>
            </a:avLst>
          </a:prstGeom>
          <a:solidFill>
            <a:srgbClr val="34206F"/>
          </a:solidFill>
          <a:ln w="12700">
            <a:solidFill>
              <a:srgbClr val="4D3988"/>
            </a:solidFill>
            <a:prstDash val="solid"/>
          </a:ln>
        </p:spPr>
      </p:sp>
      <p:sp>
        <p:nvSpPr>
          <p:cNvPr id="20" name="Text 18"/>
          <p:cNvSpPr/>
          <p:nvPr/>
        </p:nvSpPr>
        <p:spPr>
          <a:xfrm>
            <a:off x="5145554" y="3276600"/>
            <a:ext cx="323842" cy="323850"/>
          </a:xfrm>
          <a:prstGeom prst="rect">
            <a:avLst/>
          </a:prstGeom>
          <a:noFill/>
          <a:ln/>
        </p:spPr>
        <p:txBody>
          <a:bodyPr wrap="none" lIns="0" tIns="0" rIns="0" bIns="0" rtlCol="0" anchor="ctr"/>
          <a:lstStyle/>
          <a:p>
            <a:pPr marL="0" indent="0" algn="ctr">
              <a:lnSpc>
                <a:spcPct val="100000"/>
              </a:lnSpc>
              <a:buNone/>
            </a:pPr>
            <a:r>
              <a:rPr lang="en-US" sz="2550" kern="100" spc="-89" dirty="0">
                <a:solidFill>
                  <a:srgbClr val="FFFFFF"/>
                </a:solidFill>
                <a:latin typeface="Inter Tight SemiBold" pitchFamily="34" charset="0"/>
                <a:ea typeface="Inter Tight SemiBold" pitchFamily="34" charset="-122"/>
                <a:cs typeface="Inter Tight SemiBold" pitchFamily="34" charset="0"/>
              </a:rPr>
              <a:t>3</a:t>
            </a:r>
            <a:endParaRPr lang="en-US" sz="2550" dirty="0"/>
          </a:p>
        </p:txBody>
      </p:sp>
      <p:sp>
        <p:nvSpPr>
          <p:cNvPr id="21" name="Text 19"/>
          <p:cNvSpPr/>
          <p:nvPr/>
        </p:nvSpPr>
        <p:spPr>
          <a:xfrm>
            <a:off x="5766251" y="3303588"/>
            <a:ext cx="6120652" cy="301625"/>
          </a:xfrm>
          <a:prstGeom prst="rect">
            <a:avLst/>
          </a:prstGeom>
          <a:noFill/>
          <a:ln/>
        </p:spPr>
        <p:txBody>
          <a:bodyPr wrap="none" lIns="0" tIns="0" rIns="0" bIns="0" rtlCol="0" anchor="t"/>
          <a:lstStyle/>
          <a:p>
            <a:pPr marL="0" indent="0" algn="l">
              <a:lnSpc>
                <a:spcPct val="104000"/>
              </a:lnSpc>
              <a:buNone/>
            </a:pPr>
            <a:r>
              <a:rPr lang="en-US" sz="1900" kern="100" spc="-66" dirty="0">
                <a:solidFill>
                  <a:srgbClr val="000000"/>
                </a:solidFill>
                <a:latin typeface="Inter Tight SemiBold" pitchFamily="34" charset="0"/>
                <a:ea typeface="Inter Tight SemiBold" pitchFamily="34" charset="-122"/>
                <a:cs typeface="Inter Tight SemiBold" pitchFamily="34" charset="0"/>
              </a:rPr>
              <a:t>Wiener control</a:t>
            </a:r>
            <a:endParaRPr lang="en-US" sz="1900" dirty="0"/>
          </a:p>
        </p:txBody>
      </p:sp>
      <p:sp>
        <p:nvSpPr>
          <p:cNvPr id="22" name="Text 20"/>
          <p:cNvSpPr/>
          <p:nvPr/>
        </p:nvSpPr>
        <p:spPr>
          <a:xfrm>
            <a:off x="5766251" y="3734693"/>
            <a:ext cx="6120652" cy="291405"/>
          </a:xfrm>
          <a:prstGeom prst="rect">
            <a:avLst/>
          </a:prstGeom>
          <a:noFill/>
          <a:ln/>
        </p:spPr>
        <p:txBody>
          <a:bodyPr wrap="none" lIns="0" tIns="0" rIns="0" bIns="0" rtlCol="0" anchor="t"/>
          <a:lstStyle/>
          <a:p>
            <a:pPr marL="0" indent="0" algn="l">
              <a:lnSpc>
                <a:spcPct val="112000"/>
              </a:lnSpc>
              <a:buNone/>
            </a:pPr>
            <a:r>
              <a:rPr lang="en-US" sz="1700" dirty="0">
                <a:solidFill>
                  <a:srgbClr val="000000"/>
                </a:solidFill>
                <a:latin typeface="Inter Tight" pitchFamily="34" charset="0"/>
                <a:ea typeface="Inter Tight" pitchFamily="34" charset="-122"/>
                <a:cs typeface="Inter Tight" pitchFamily="34" charset="0"/>
              </a:rPr>
              <a:t>Parameter K balances deblurring and suppression.</a:t>
            </a:r>
            <a:endParaRPr lang="en-US" sz="1700" dirty="0"/>
          </a:p>
        </p:txBody>
      </p:sp>
      <p:sp>
        <p:nvSpPr>
          <p:cNvPr id="23" name="Shape 21"/>
          <p:cNvSpPr/>
          <p:nvPr/>
        </p:nvSpPr>
        <p:spPr>
          <a:xfrm>
            <a:off x="5064594" y="4272161"/>
            <a:ext cx="6822309" cy="31651"/>
          </a:xfrm>
          <a:prstGeom prst="roundRect">
            <a:avLst>
              <a:gd name="adj" fmla="val 49998"/>
            </a:avLst>
          </a:prstGeom>
          <a:solidFill>
            <a:srgbClr val="1A1A1A"/>
          </a:solidFill>
          <a:ln/>
        </p:spPr>
      </p:sp>
      <p:sp>
        <p:nvSpPr>
          <p:cNvPr id="24" name="Text 22"/>
          <p:cNvSpPr/>
          <p:nvPr/>
        </p:nvSpPr>
        <p:spPr>
          <a:xfrm>
            <a:off x="5064594" y="4554498"/>
            <a:ext cx="7127101" cy="248543"/>
          </a:xfrm>
          <a:prstGeom prst="rect">
            <a:avLst/>
          </a:prstGeom>
          <a:noFill/>
          <a:ln/>
        </p:spPr>
        <p:txBody>
          <a:bodyPr wrap="none" lIns="0" tIns="0" rIns="0" bIns="0" rtlCol="0" anchor="t"/>
          <a:lstStyle/>
          <a:p>
            <a:pPr marL="0" indent="0" algn="l">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0"/>
              </a:rPr>
              <a:t>Takeaway:</a:t>
            </a:r>
            <a:r>
              <a:rPr lang="en-US" sz="1450" dirty="0">
                <a:solidFill>
                  <a:srgbClr val="000000"/>
                </a:solidFill>
                <a:latin typeface="Inter Tight" pitchFamily="34" charset="0"/>
                <a:ea typeface="Inter Tight" pitchFamily="34" charset="-122"/>
                <a:cs typeface="Inter Tight" pitchFamily="34" charset="0"/>
              </a:rPr>
              <a:t> the best filter depends on the type of image damage.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8127797" cy="6858000"/>
          </a:xfrm>
          <a:prstGeom prst="rect">
            <a:avLst/>
          </a:prstGeom>
          <a:solidFill>
            <a:srgbClr val="A186F3"/>
          </a:solidFill>
          <a:ln/>
        </p:spPr>
      </p:sp>
      <p:sp>
        <p:nvSpPr>
          <p:cNvPr id="3" name="Text 1"/>
          <p:cNvSpPr/>
          <p:nvPr/>
        </p:nvSpPr>
        <p:spPr>
          <a:xfrm>
            <a:off x="609585" y="541020"/>
            <a:ext cx="7518212"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000000"/>
                </a:solidFill>
                <a:latin typeface="Fragment Mono" pitchFamily="34" charset="0"/>
                <a:ea typeface="Fragment Mono" pitchFamily="34" charset="-122"/>
                <a:cs typeface="Fragment Mono" pitchFamily="34" charset="0"/>
              </a:rPr>
              <a:t>07 · CONCLUSION</a:t>
            </a:r>
            <a:endParaRPr lang="en-US" sz="1300" dirty="0"/>
          </a:p>
        </p:txBody>
      </p:sp>
      <p:sp>
        <p:nvSpPr>
          <p:cNvPr id="4" name="Text 2"/>
          <p:cNvSpPr/>
          <p:nvPr/>
        </p:nvSpPr>
        <p:spPr>
          <a:xfrm>
            <a:off x="609585" y="942579"/>
            <a:ext cx="7035624" cy="2895600"/>
          </a:xfrm>
          <a:prstGeom prst="rect">
            <a:avLst/>
          </a:prstGeom>
          <a:noFill/>
          <a:ln/>
        </p:spPr>
        <p:txBody>
          <a:bodyPr wrap="square" lIns="0" tIns="0" rIns="0" bIns="0" rtlCol="0" anchor="t">
            <a:normAutofit lnSpcReduction="10000"/>
          </a:bodyPr>
          <a:lstStyle/>
          <a:p>
            <a:pPr marL="0" indent="0" algn="l">
              <a:lnSpc>
                <a:spcPct val="79000"/>
              </a:lnSpc>
              <a:buNone/>
            </a:pPr>
            <a:r>
              <a:rPr lang="en-US" sz="8000" kern="100" spc="-360" dirty="0">
                <a:solidFill>
                  <a:srgbClr val="000000"/>
                </a:solidFill>
                <a:latin typeface="Inter Tight SemiBold" pitchFamily="34" charset="0"/>
                <a:ea typeface="Inter Tight SemiBold" pitchFamily="34" charset="-122"/>
                <a:cs typeface="Inter Tight SemiBold" pitchFamily="34" charset="0"/>
              </a:rPr>
              <a:t>Match the</a:t>
            </a:r>
            <a:endParaRPr lang="en-US" sz="8000" dirty="0"/>
          </a:p>
          <a:p>
            <a:pPr marL="0" indent="0" algn="l">
              <a:lnSpc>
                <a:spcPct val="79000"/>
              </a:lnSpc>
              <a:buNone/>
            </a:pPr>
            <a:r>
              <a:rPr lang="en-US" sz="8000" kern="100" spc="-360" dirty="0">
                <a:solidFill>
                  <a:srgbClr val="000000"/>
                </a:solidFill>
                <a:latin typeface="Inter Tight SemiBold" pitchFamily="34" charset="0"/>
                <a:ea typeface="Inter Tight SemiBold" pitchFamily="34" charset="-122"/>
                <a:cs typeface="Inter Tight SemiBold" pitchFamily="34" charset="0"/>
              </a:rPr>
              <a:t>filter to</a:t>
            </a:r>
            <a:endParaRPr lang="en-US" sz="8000" dirty="0"/>
          </a:p>
          <a:p>
            <a:pPr marL="0" indent="0" algn="l">
              <a:lnSpc>
                <a:spcPct val="79000"/>
              </a:lnSpc>
              <a:buNone/>
            </a:pPr>
            <a:r>
              <a:rPr lang="en-US" sz="8000" kern="100" spc="-360" dirty="0">
                <a:solidFill>
                  <a:srgbClr val="000000"/>
                </a:solidFill>
                <a:latin typeface="Inter Tight SemiBold" pitchFamily="34" charset="0"/>
                <a:ea typeface="Inter Tight SemiBold" pitchFamily="34" charset="-122"/>
                <a:cs typeface="Inter Tight SemiBold" pitchFamily="34" charset="0"/>
              </a:rPr>
              <a:t>the damage.</a:t>
            </a:r>
            <a:endParaRPr lang="en-US" sz="8000" dirty="0"/>
          </a:p>
        </p:txBody>
      </p:sp>
      <p:sp>
        <p:nvSpPr>
          <p:cNvPr id="5" name="Text 3"/>
          <p:cNvSpPr/>
          <p:nvPr/>
        </p:nvSpPr>
        <p:spPr>
          <a:xfrm>
            <a:off x="609585" y="3932158"/>
            <a:ext cx="7518212" cy="214610"/>
          </a:xfrm>
          <a:prstGeom prst="rect">
            <a:avLst/>
          </a:prstGeom>
          <a:noFill/>
          <a:ln/>
        </p:spPr>
        <p:txBody>
          <a:bodyPr wrap="none" lIns="0" tIns="0" rIns="0" bIns="0" rtlCol="0" anchor="t"/>
          <a:lstStyle/>
          <a:p>
            <a:pPr marL="0" indent="0" algn="l">
              <a:lnSpc>
                <a:spcPct val="108000"/>
              </a:lnSpc>
              <a:buNone/>
            </a:pPr>
            <a:r>
              <a:rPr lang="en-US" sz="1300" dirty="0">
                <a:solidFill>
                  <a:srgbClr val="000000"/>
                </a:solidFill>
                <a:latin typeface="Fragment Mono" pitchFamily="34" charset="0"/>
                <a:ea typeface="Fragment Mono" pitchFamily="34" charset="-122"/>
                <a:cs typeface="Fragment Mono" pitchFamily="34" charset="0"/>
              </a:rPr>
              <a:t>A CONTROLLED COMPARISON MAKES THE CHOICE VISIBLE.</a:t>
            </a:r>
            <a:endParaRPr lang="en-US" sz="1300" dirty="0"/>
          </a:p>
        </p:txBody>
      </p:sp>
      <p:sp>
        <p:nvSpPr>
          <p:cNvPr id="6" name="Text 4"/>
          <p:cNvSpPr/>
          <p:nvPr/>
        </p:nvSpPr>
        <p:spPr>
          <a:xfrm>
            <a:off x="8483388" y="446088"/>
            <a:ext cx="3174921"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121212"/>
                </a:solidFill>
                <a:latin typeface="Inter Tight" pitchFamily="34" charset="0"/>
                <a:ea typeface="Inter Tight" pitchFamily="34" charset="-122"/>
                <a:cs typeface="Inter Tight" pitchFamily="34" charset="0"/>
              </a:rPr>
              <a:t>Reported results</a:t>
            </a:r>
            <a:endParaRPr lang="en-US" sz="2400" dirty="0"/>
          </a:p>
        </p:txBody>
      </p:sp>
      <p:sp>
        <p:nvSpPr>
          <p:cNvPr id="7" name="Text 5"/>
          <p:cNvSpPr/>
          <p:nvPr/>
        </p:nvSpPr>
        <p:spPr>
          <a:xfrm>
            <a:off x="8483388" y="972899"/>
            <a:ext cx="3174921" cy="1242715"/>
          </a:xfrm>
          <a:prstGeom prst="rect">
            <a:avLst/>
          </a:prstGeom>
          <a:noFill/>
          <a:ln/>
        </p:spPr>
        <p:txBody>
          <a:bodyPr wrap="square" lIns="0" tIns="0" rIns="0" bIns="0" rtlCol="0" anchor="t">
            <a:normAutofit/>
          </a:bodyPr>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0"/>
              </a:rPr>
              <a:t>Adaptive median led for salt-and-pepper noise; Gaussian low-pass led for Gaussian noise; Wiener was more robust than inverse filtering for blur plus noise.</a:t>
            </a:r>
            <a:endParaRPr lang="en-US" sz="1450" dirty="0"/>
          </a:p>
        </p:txBody>
      </p:sp>
      <p:sp>
        <p:nvSpPr>
          <p:cNvPr id="8" name="Text 6"/>
          <p:cNvSpPr/>
          <p:nvPr/>
        </p:nvSpPr>
        <p:spPr>
          <a:xfrm>
            <a:off x="8483388" y="2682577"/>
            <a:ext cx="3174921"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121212"/>
                </a:solidFill>
                <a:latin typeface="Inter Tight" pitchFamily="34" charset="0"/>
                <a:ea typeface="Inter Tight" pitchFamily="34" charset="-122"/>
                <a:cs typeface="Inter Tight" pitchFamily="34" charset="0"/>
              </a:rPr>
              <a:t>Limitations</a:t>
            </a:r>
            <a:endParaRPr lang="en-US" sz="2400" dirty="0"/>
          </a:p>
        </p:txBody>
      </p:sp>
      <p:sp>
        <p:nvSpPr>
          <p:cNvPr id="9" name="Text 7"/>
          <p:cNvSpPr/>
          <p:nvPr/>
        </p:nvSpPr>
        <p:spPr>
          <a:xfrm>
            <a:off x="8483388" y="3209389"/>
            <a:ext cx="3174921" cy="830074"/>
          </a:xfrm>
          <a:prstGeom prst="rect">
            <a:avLst/>
          </a:prstGeom>
          <a:noFill/>
          <a:ln/>
        </p:spPr>
        <p:txBody>
          <a:bodyPr wrap="square" lIns="0" tIns="0" rIns="0" bIns="0" rtlCol="0" anchor="t">
            <a:normAutofit fontScale="70000" lnSpcReduction="20000"/>
          </a:bodyPr>
          <a:lstStyle/>
          <a:p>
            <a:pPr lvl="0"/>
            <a:r>
              <a:rPr lang="en-IN" sz="1600" dirty="0"/>
              <a:t>Works only with grayscale images. </a:t>
            </a:r>
          </a:p>
          <a:p>
            <a:pPr lvl="0"/>
            <a:r>
              <a:rPr lang="en-IN" sz="1600" dirty="0"/>
              <a:t>Uses known blur models to restore images.</a:t>
            </a:r>
          </a:p>
          <a:p>
            <a:pPr lvl="0"/>
            <a:r>
              <a:rPr lang="en-IN" sz="1600" dirty="0"/>
              <a:t>Results may vary depending on the type and amount of noise.</a:t>
            </a:r>
          </a:p>
          <a:p>
            <a:pPr lvl="0"/>
            <a:r>
              <a:rPr lang="en-IN" sz="1600" dirty="0"/>
              <a:t>Higher PSNR does not always mean better visual quality.</a:t>
            </a:r>
          </a:p>
        </p:txBody>
      </p:sp>
      <p:sp>
        <p:nvSpPr>
          <p:cNvPr id="14" name="Shape 12"/>
          <p:cNvSpPr/>
          <p:nvPr/>
        </p:nvSpPr>
        <p:spPr>
          <a:xfrm>
            <a:off x="8483388" y="2433340"/>
            <a:ext cx="3174921" cy="12700"/>
          </a:xfrm>
          <a:prstGeom prst="rect">
            <a:avLst/>
          </a:prstGeom>
          <a:solidFill>
            <a:srgbClr val="1A1A1A"/>
          </a:solidFill>
          <a:ln/>
        </p:spPr>
      </p:sp>
      <p:sp>
        <p:nvSpPr>
          <p:cNvPr id="15" name="Shape 13"/>
          <p:cNvSpPr/>
          <p:nvPr/>
        </p:nvSpPr>
        <p:spPr>
          <a:xfrm>
            <a:off x="8483388" y="4172744"/>
            <a:ext cx="3174921" cy="12700"/>
          </a:xfrm>
          <a:prstGeom prst="rect">
            <a:avLst/>
          </a:prstGeom>
          <a:solidFill>
            <a:srgbClr val="1A1A1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803</Words>
  <Application>Microsoft Office PowerPoint</Application>
  <PresentationFormat>Widescreen</PresentationFormat>
  <Paragraphs>115</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Fragment Mono</vt:lpstr>
      <vt:lpstr>Inter Tight</vt:lpstr>
      <vt:lpstr>Arial</vt:lpstr>
      <vt:lpstr>Inter Tight Bold</vt:lpstr>
      <vt:lpstr>Inter Tight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Chinthala Manideep Sai</cp:lastModifiedBy>
  <cp:revision>3</cp:revision>
  <dcterms:created xsi:type="dcterms:W3CDTF">2026-10-28T10:25:43Z</dcterms:created>
  <dcterms:modified xsi:type="dcterms:W3CDTF">2026-10-28T10:27:48Z</dcterms:modified>
</cp:coreProperties>
</file>